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0" r:id="rId2"/>
    <p:sldId id="278" r:id="rId3"/>
    <p:sldId id="263" r:id="rId4"/>
    <p:sldId id="274" r:id="rId5"/>
    <p:sldId id="277" r:id="rId6"/>
    <p:sldId id="275" r:id="rId7"/>
    <p:sldId id="276" r:id="rId8"/>
    <p:sldId id="264" r:id="rId9"/>
    <p:sldId id="265" r:id="rId10"/>
    <p:sldId id="267" r:id="rId11"/>
    <p:sldId id="266" r:id="rId12"/>
    <p:sldId id="268" r:id="rId13"/>
    <p:sldId id="269" r:id="rId14"/>
    <p:sldId id="272" r:id="rId15"/>
    <p:sldId id="273" r:id="rId16"/>
    <p:sldId id="270" r:id="rId17"/>
    <p:sldId id="258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1"/>
    <a:srgbClr val="006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673" autoAdjust="0"/>
  </p:normalViewPr>
  <p:slideViewPr>
    <p:cSldViewPr snapToGrid="0">
      <p:cViewPr varScale="1">
        <p:scale>
          <a:sx n="72" d="100"/>
          <a:sy n="72" d="100"/>
        </p:scale>
        <p:origin x="1075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06270A-52D2-7C80-D0BE-0BDEADF449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6F9D1-21B9-BDB3-2054-7FA6EE2CFE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087AF-BBE7-4B29-B960-CB75D191095C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61187-6068-B7C6-34E8-4082A79788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8E2A0-7B42-52FC-861B-E5AFD7BE3D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7227A-8F59-47A0-BD32-8E1603309E3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22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D7158-9F4D-460F-83FB-B15D474B2BA4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E1D42-C944-4739-9299-34B66CFBA27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61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533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7733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850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362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840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E1D42-C944-4739-9299-34B66CFBA27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101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TIC_Title_FV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8507AE2-1C51-4E14-BCAC-303D3D5F33F5}"/>
              </a:ext>
            </a:extLst>
          </p:cNvPr>
          <p:cNvSpPr/>
          <p:nvPr userDrawn="1"/>
        </p:nvSpPr>
        <p:spPr bwMode="auto">
          <a:xfrm>
            <a:off x="0" y="4174434"/>
            <a:ext cx="12192000" cy="2683565"/>
          </a:xfrm>
          <a:prstGeom prst="rect">
            <a:avLst/>
          </a:prstGeom>
          <a:solidFill>
            <a:srgbClr val="0066B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rgbClr val="951B81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EE07BBC-6247-432C-ABAD-F9F4F4185476}"/>
              </a:ext>
            </a:extLst>
          </p:cNvPr>
          <p:cNvCxnSpPr>
            <a:cxnSpLocks/>
          </p:cNvCxnSpPr>
          <p:nvPr userDrawn="1"/>
        </p:nvCxnSpPr>
        <p:spPr>
          <a:xfrm>
            <a:off x="0" y="724930"/>
            <a:ext cx="12192000" cy="0"/>
          </a:xfrm>
          <a:prstGeom prst="line">
            <a:avLst/>
          </a:prstGeom>
          <a:ln w="19050">
            <a:solidFill>
              <a:srgbClr val="0069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el 17">
            <a:extLst>
              <a:ext uri="{FF2B5EF4-FFF2-40B4-BE49-F238E27FC236}">
                <a16:creationId xmlns:a16="http://schemas.microsoft.com/office/drawing/2014/main" id="{2F5B8FA8-C93C-4946-8C81-8333455A7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9248" y="1307750"/>
            <a:ext cx="8653471" cy="849803"/>
          </a:xfrm>
        </p:spPr>
        <p:txBody>
          <a:bodyPr>
            <a:normAutofit/>
          </a:bodyPr>
          <a:lstStyle>
            <a:lvl1pPr algn="ctr">
              <a:defRPr sz="28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15" name="Textplatzhalter 26">
            <a:extLst>
              <a:ext uri="{FF2B5EF4-FFF2-40B4-BE49-F238E27FC236}">
                <a16:creationId xmlns:a16="http://schemas.microsoft.com/office/drawing/2014/main" id="{1D0873DE-386D-44EA-AB66-548FE854F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69561" y="5352284"/>
            <a:ext cx="3852881" cy="291739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endParaRPr lang="de-DE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B0D45E18-A344-4B14-8C50-BC6A6B808C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39211" y="3224467"/>
            <a:ext cx="6713538" cy="695195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400">
                <a:latin typeface="Cera Pro" panose="00000400000000000000" pitchFamily="50" charset="0"/>
              </a:defRPr>
            </a:lvl2pPr>
            <a:lvl3pPr marL="914400" indent="0">
              <a:buNone/>
              <a:defRPr sz="1400">
                <a:latin typeface="Cera Pro" panose="00000400000000000000" pitchFamily="50" charset="0"/>
              </a:defRPr>
            </a:lvl3pPr>
            <a:lvl4pPr marL="1371600" indent="0">
              <a:buNone/>
              <a:defRPr sz="1400">
                <a:latin typeface="Cera Pro" panose="00000400000000000000" pitchFamily="50" charset="0"/>
              </a:defRPr>
            </a:lvl4pPr>
            <a:lvl5pPr marL="1828800" indent="0">
              <a:buNone/>
              <a:defRPr sz="1400">
                <a:latin typeface="Cera Pro" panose="00000400000000000000" pitchFamily="50" charset="0"/>
              </a:defRPr>
            </a:lvl5pPr>
          </a:lstStyle>
          <a:p>
            <a:pPr lvl="0"/>
            <a:r>
              <a:rPr lang="de-DE" dirty="0" err="1"/>
              <a:t>Authors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C625EA-AE1F-46E5-BAC9-986B223CA42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301906" y="6023926"/>
            <a:ext cx="1588148" cy="365125"/>
          </a:xfr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88DC45C1-F598-4AE5-8841-3D380D9A37D1}" type="datetime4">
              <a:rPr lang="en-US" smtClean="0"/>
              <a:t>June 16, 2026</a:t>
            </a:fld>
            <a:endParaRPr lang="en-US" dirty="0"/>
          </a:p>
        </p:txBody>
      </p:sp>
      <p:pic>
        <p:nvPicPr>
          <p:cNvPr id="9" name="Picture 8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86FAC34F-5784-BBD2-2DE6-0F25172AC1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2807" r="4222" b="14249"/>
          <a:stretch/>
        </p:blipFill>
        <p:spPr>
          <a:xfrm>
            <a:off x="94592" y="63189"/>
            <a:ext cx="3118665" cy="630209"/>
          </a:xfrm>
          <a:prstGeom prst="rect">
            <a:avLst/>
          </a:prstGeom>
        </p:spPr>
      </p:pic>
      <p:pic>
        <p:nvPicPr>
          <p:cNvPr id="17" name="Picture 16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C11ECD20-4A69-1616-3609-A9581361D4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753" y="45818"/>
            <a:ext cx="665620" cy="6080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0CA0B7-A7FD-1AB5-6E6D-A7A18AC3FA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25784" b="11482"/>
          <a:stretch/>
        </p:blipFill>
        <p:spPr>
          <a:xfrm>
            <a:off x="10251014" y="184063"/>
            <a:ext cx="1914792" cy="388460"/>
          </a:xfrm>
          <a:prstGeom prst="rect">
            <a:avLst/>
          </a:prstGeom>
        </p:spPr>
      </p:pic>
      <p:sp>
        <p:nvSpPr>
          <p:cNvPr id="3" name="Textplatzhalter 26">
            <a:extLst>
              <a:ext uri="{FF2B5EF4-FFF2-40B4-BE49-F238E27FC236}">
                <a16:creationId xmlns:a16="http://schemas.microsoft.com/office/drawing/2014/main" id="{6C557AAC-35D1-4ACC-FA77-B1C8C12633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69540" y="4482128"/>
            <a:ext cx="3852881" cy="291739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de-DE" dirty="0" err="1"/>
              <a:t>Where</a:t>
            </a:r>
            <a:r>
              <a:rPr lang="de-DE" dirty="0"/>
              <a:t> was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presented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425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TIC_Content_FV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6">
            <a:extLst>
              <a:ext uri="{FF2B5EF4-FFF2-40B4-BE49-F238E27FC236}">
                <a16:creationId xmlns:a16="http://schemas.microsoft.com/office/drawing/2014/main" id="{E2D9F074-E5C2-5272-3FAA-90C86F23DDB3}"/>
              </a:ext>
            </a:extLst>
          </p:cNvPr>
          <p:cNvSpPr/>
          <p:nvPr userDrawn="1"/>
        </p:nvSpPr>
        <p:spPr bwMode="auto">
          <a:xfrm>
            <a:off x="0" y="6505815"/>
            <a:ext cx="12192000" cy="360000"/>
          </a:xfrm>
          <a:prstGeom prst="rect">
            <a:avLst/>
          </a:prstGeom>
          <a:gradFill flip="none" rotWithShape="1">
            <a:gsLst>
              <a:gs pos="43000">
                <a:schemeClr val="accent1">
                  <a:lumMod val="85000"/>
                  <a:lumOff val="1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 dirty="0">
              <a:ln>
                <a:noFill/>
              </a:ln>
              <a:solidFill>
                <a:srgbClr val="951B81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0C7DC9-54F7-4238-928C-DEDC4D3A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3200400" cy="365125"/>
          </a:xfrm>
        </p:spPr>
        <p:txBody>
          <a:bodyPr/>
          <a:lstStyle>
            <a:lvl1pPr algn="l">
              <a:defRPr b="1">
                <a:solidFill>
                  <a:srgbClr val="0069B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DISTILL-Phys | Muhammad Abdullah, Kainat Arshad, Abdul Raziq</a:t>
            </a:r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FDFC54A-03FC-48B9-958E-7F86BEEBA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084" y="1078149"/>
            <a:ext cx="2723148" cy="502465"/>
          </a:xfrm>
        </p:spPr>
        <p:txBody>
          <a:bodyPr>
            <a:normAutofit/>
          </a:bodyPr>
          <a:lstStyle>
            <a:lvl1pPr>
              <a:defRPr sz="2400">
                <a:latin typeface="Cera Pro" panose="00000400000000000000" pitchFamily="50" charset="0"/>
              </a:defRPr>
            </a:lvl1pPr>
          </a:lstStyle>
          <a:p>
            <a:r>
              <a:rPr lang="de-DE" dirty="0"/>
              <a:t>Title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9944A05-F1B5-46FB-AC0B-6BB19AF578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1082" y="1629841"/>
            <a:ext cx="10825755" cy="4175854"/>
          </a:xfrm>
        </p:spPr>
        <p:txBody>
          <a:bodyPr>
            <a:normAutofit/>
          </a:bodyPr>
          <a:lstStyle>
            <a:lvl1pPr marL="538163" indent="-273050">
              <a:lnSpc>
                <a:spcPct val="150000"/>
              </a:lnSpc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>
                <a:latin typeface="Cera Pro" panose="00000400000000000000" pitchFamily="50" charset="0"/>
              </a:defRPr>
            </a:lvl1pPr>
            <a:lvl2pPr marL="985838" indent="-271463">
              <a:lnSpc>
                <a:spcPct val="150000"/>
              </a:lnSpc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>
                <a:latin typeface="Cera Pro" panose="00000400000000000000" pitchFamily="50" charset="0"/>
              </a:defRPr>
            </a:lvl2pPr>
            <a:lvl3pPr marL="1435100" indent="-271463">
              <a:lnSpc>
                <a:spcPct val="150000"/>
              </a:lnSpc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>
                <a:latin typeface="Cera Pro" panose="00000400000000000000" pitchFamily="50" charset="0"/>
              </a:defRPr>
            </a:lvl3pPr>
            <a:lvl4pPr marL="1884363" indent="-271463">
              <a:lnSpc>
                <a:spcPct val="150000"/>
              </a:lnSpc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>
                <a:latin typeface="Cera Pro" panose="00000400000000000000" pitchFamily="50" charset="0"/>
              </a:defRPr>
            </a:lvl4pPr>
            <a:lvl5pPr marL="2333625" indent="-271463">
              <a:lnSpc>
                <a:spcPct val="150000"/>
              </a:lnSpc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>
                <a:latin typeface="Cera Pro" panose="00000400000000000000" pitchFamily="50" charset="0"/>
              </a:defRPr>
            </a:lvl5pPr>
          </a:lstStyle>
          <a:p>
            <a:pPr lvl="0"/>
            <a:r>
              <a:rPr lang="de-DE" dirty="0"/>
              <a:t>Main Line</a:t>
            </a:r>
          </a:p>
          <a:p>
            <a:pPr lvl="1"/>
            <a:r>
              <a:rPr lang="de-DE" dirty="0"/>
              <a:t>First Line</a:t>
            </a:r>
          </a:p>
          <a:p>
            <a:pPr lvl="2"/>
            <a:r>
              <a:rPr lang="de-DE" dirty="0"/>
              <a:t>Second Line</a:t>
            </a:r>
          </a:p>
          <a:p>
            <a:pPr lvl="3"/>
            <a:r>
              <a:rPr lang="de-DE" dirty="0"/>
              <a:t>Third Line</a:t>
            </a:r>
          </a:p>
        </p:txBody>
      </p:sp>
      <p:pic>
        <p:nvPicPr>
          <p:cNvPr id="6" name="Picture 5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192B1437-C669-71FA-1C2C-2D7F9857F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2807" r="42465" b="14249"/>
          <a:stretch/>
        </p:blipFill>
        <p:spPr>
          <a:xfrm>
            <a:off x="94593" y="63189"/>
            <a:ext cx="1818760" cy="630209"/>
          </a:xfrm>
          <a:prstGeom prst="rect">
            <a:avLst/>
          </a:prstGeom>
        </p:spPr>
      </p:pic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7F224C22-D30F-E64F-287C-D217DAB38E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753" y="45818"/>
            <a:ext cx="665620" cy="6080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5602FC-3603-BC36-8569-1867F6706D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25784" b="11482"/>
          <a:stretch/>
        </p:blipFill>
        <p:spPr>
          <a:xfrm>
            <a:off x="10251014" y="184063"/>
            <a:ext cx="1914792" cy="388460"/>
          </a:xfrm>
          <a:prstGeom prst="rect">
            <a:avLst/>
          </a:prstGeom>
        </p:spPr>
      </p:pic>
      <p:cxnSp>
        <p:nvCxnSpPr>
          <p:cNvPr id="15" name="Gerader Verbinder 9">
            <a:extLst>
              <a:ext uri="{FF2B5EF4-FFF2-40B4-BE49-F238E27FC236}">
                <a16:creationId xmlns:a16="http://schemas.microsoft.com/office/drawing/2014/main" id="{417E1BA5-AA6E-009F-8F17-59D8FA6EA442}"/>
              </a:ext>
            </a:extLst>
          </p:cNvPr>
          <p:cNvCxnSpPr>
            <a:cxnSpLocks/>
          </p:cNvCxnSpPr>
          <p:nvPr userDrawn="1"/>
        </p:nvCxnSpPr>
        <p:spPr>
          <a:xfrm>
            <a:off x="0" y="724930"/>
            <a:ext cx="12192000" cy="0"/>
          </a:xfrm>
          <a:prstGeom prst="line">
            <a:avLst/>
          </a:prstGeom>
          <a:ln w="19050">
            <a:solidFill>
              <a:srgbClr val="0069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EBA03-8C13-B5B5-42E1-46A8F9A738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38708" y="6498000"/>
            <a:ext cx="453292" cy="365125"/>
          </a:xfrm>
        </p:spPr>
        <p:txBody>
          <a:bodyPr/>
          <a:lstStyle>
            <a:lvl1pPr>
              <a:defRPr sz="1400" b="1">
                <a:solidFill>
                  <a:srgbClr val="0069B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904DCD0C-D34E-48D2-8D5E-B00D274E34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Datumsplatzhalter 1">
            <a:extLst>
              <a:ext uri="{FF2B5EF4-FFF2-40B4-BE49-F238E27FC236}">
                <a16:creationId xmlns:a16="http://schemas.microsoft.com/office/drawing/2014/main" id="{4FB69069-8CD8-0499-2E3F-069B71BCAC3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4877889" y="6505815"/>
            <a:ext cx="2436221" cy="365125"/>
          </a:xfrm>
        </p:spPr>
        <p:txBody>
          <a:bodyPr/>
          <a:lstStyle>
            <a:lvl1pPr algn="ctr">
              <a:defRPr lang="en-US" sz="1200" b="1" kern="1200" smtClean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F2DE36C-AE7C-4586-8857-7FBED5011968}" type="datetime4">
              <a:rPr lang="en-US" smtClean="0"/>
              <a:t>June 16, 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997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CTIC_Abschluss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38155DE-F930-460A-A35C-191FF6DBB3A0}"/>
              </a:ext>
            </a:extLst>
          </p:cNvPr>
          <p:cNvGrpSpPr/>
          <p:nvPr userDrawn="1"/>
        </p:nvGrpSpPr>
        <p:grpSpPr>
          <a:xfrm>
            <a:off x="0" y="6659883"/>
            <a:ext cx="12192000" cy="198117"/>
            <a:chOff x="0" y="6659883"/>
            <a:chExt cx="12192000" cy="198117"/>
          </a:xfrm>
          <a:solidFill>
            <a:srgbClr val="0069B3"/>
          </a:solidFill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8CD9B68-A560-440E-B5BC-72C7976A7994}"/>
                </a:ext>
              </a:extLst>
            </p:cNvPr>
            <p:cNvSpPr/>
            <p:nvPr userDrawn="1"/>
          </p:nvSpPr>
          <p:spPr bwMode="auto">
            <a:xfrm>
              <a:off x="0" y="6660000"/>
              <a:ext cx="1368000" cy="198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D7355E0-5324-4910-8669-76925C819AE2}"/>
                </a:ext>
              </a:extLst>
            </p:cNvPr>
            <p:cNvSpPr/>
            <p:nvPr userDrawn="1"/>
          </p:nvSpPr>
          <p:spPr bwMode="auto">
            <a:xfrm>
              <a:off x="1353000" y="6660000"/>
              <a:ext cx="1368000" cy="198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EB86FD5-AB94-4710-B0B6-CFA66EDE654F}"/>
                </a:ext>
              </a:extLst>
            </p:cNvPr>
            <p:cNvSpPr/>
            <p:nvPr userDrawn="1"/>
          </p:nvSpPr>
          <p:spPr bwMode="auto">
            <a:xfrm>
              <a:off x="2706000" y="6661407"/>
              <a:ext cx="1368000" cy="196593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de-DE" sz="3200" dirty="0">
                  <a:solidFill>
                    <a:srgbClr val="000000"/>
                  </a:solidFill>
                  <a:latin typeface="Lucida Grande CY" pitchFamily="-111" charset="-52"/>
                  <a:ea typeface="ヒラギノ角ゴ Pro W3" pitchFamily="-111" charset="-128"/>
                  <a:cs typeface="ヒラギノ角ゴ Pro W3" pitchFamily="-111" charset="-128"/>
                </a:rPr>
                <a:t> 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2A944BFD-49D7-425C-8172-1FC0045D8662}"/>
                </a:ext>
              </a:extLst>
            </p:cNvPr>
            <p:cNvSpPr/>
            <p:nvPr userDrawn="1"/>
          </p:nvSpPr>
          <p:spPr bwMode="auto">
            <a:xfrm>
              <a:off x="4059000" y="6659883"/>
              <a:ext cx="1368000" cy="19811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A801D05-1ED8-4528-B1B9-2C0323629627}"/>
                </a:ext>
              </a:extLst>
            </p:cNvPr>
            <p:cNvSpPr/>
            <p:nvPr userDrawn="1"/>
          </p:nvSpPr>
          <p:spPr bwMode="auto">
            <a:xfrm>
              <a:off x="5412000" y="6661420"/>
              <a:ext cx="1368000" cy="19658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 dirty="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4364B5B9-F206-4C34-BE4F-50DE2ED87AED}"/>
                </a:ext>
              </a:extLst>
            </p:cNvPr>
            <p:cNvSpPr/>
            <p:nvPr userDrawn="1"/>
          </p:nvSpPr>
          <p:spPr bwMode="auto">
            <a:xfrm>
              <a:off x="6765000" y="6660000"/>
              <a:ext cx="1368000" cy="198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703FC6D-C347-4901-AD91-F93621371D7A}"/>
                </a:ext>
              </a:extLst>
            </p:cNvPr>
            <p:cNvSpPr/>
            <p:nvPr userDrawn="1"/>
          </p:nvSpPr>
          <p:spPr bwMode="auto">
            <a:xfrm>
              <a:off x="9471000" y="6660000"/>
              <a:ext cx="1368000" cy="198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92A1490-395C-4EDC-A787-C9F35B5CC753}"/>
                </a:ext>
              </a:extLst>
            </p:cNvPr>
            <p:cNvSpPr/>
            <p:nvPr userDrawn="1"/>
          </p:nvSpPr>
          <p:spPr bwMode="auto">
            <a:xfrm>
              <a:off x="10824000" y="6659883"/>
              <a:ext cx="1368000" cy="198117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30CF8F7-D9AC-48EF-B0C7-ACB2D79484C2}"/>
                </a:ext>
              </a:extLst>
            </p:cNvPr>
            <p:cNvSpPr/>
            <p:nvPr userDrawn="1"/>
          </p:nvSpPr>
          <p:spPr bwMode="auto">
            <a:xfrm>
              <a:off x="8118000" y="6660000"/>
              <a:ext cx="1368000" cy="198000"/>
            </a:xfrm>
            <a:prstGeom prst="rect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21920" tIns="60960" rIns="121920" bIns="6096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2191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de-DE" sz="3200">
                <a:solidFill>
                  <a:srgbClr val="000000"/>
                </a:solidFill>
                <a:latin typeface="Lucida Grande CY" pitchFamily="-111" charset="-52"/>
                <a:ea typeface="ヒラギノ角ゴ Pro W3" pitchFamily="-111" charset="-128"/>
                <a:cs typeface="ヒラギノ角ゴ Pro W3" pitchFamily="-111" charset="-128"/>
              </a:endParaRPr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637D5C65-82FC-4D49-AB62-581A830072C1}"/>
              </a:ext>
            </a:extLst>
          </p:cNvPr>
          <p:cNvSpPr/>
          <p:nvPr userDrawn="1"/>
        </p:nvSpPr>
        <p:spPr bwMode="auto">
          <a:xfrm>
            <a:off x="0" y="0"/>
            <a:ext cx="12192000" cy="1076325"/>
          </a:xfrm>
          <a:prstGeom prst="rect">
            <a:avLst/>
          </a:prstGeom>
          <a:solidFill>
            <a:srgbClr val="0069B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rgbClr val="951B81"/>
              </a:solidFill>
              <a:effectLst/>
              <a:latin typeface="Lucida Grande CY" pitchFamily="-111" charset="-52"/>
              <a:ea typeface="ヒラギノ角ゴ Pro W3" pitchFamily="-111" charset="-128"/>
              <a:cs typeface="ヒラギノ角ゴ Pro W3" pitchFamily="-111" charset="-128"/>
            </a:endParaRPr>
          </a:p>
        </p:txBody>
      </p:sp>
      <p:sp>
        <p:nvSpPr>
          <p:cNvPr id="17" name="Titel 4">
            <a:extLst>
              <a:ext uri="{FF2B5EF4-FFF2-40B4-BE49-F238E27FC236}">
                <a16:creationId xmlns:a16="http://schemas.microsoft.com/office/drawing/2014/main" id="{C6488B80-F0D3-4551-BEEC-A69E79BE4E45}"/>
              </a:ext>
            </a:extLst>
          </p:cNvPr>
          <p:cNvSpPr txBox="1">
            <a:spLocks/>
          </p:cNvSpPr>
          <p:nvPr userDrawn="1"/>
        </p:nvSpPr>
        <p:spPr>
          <a:xfrm>
            <a:off x="1304002" y="3014290"/>
            <a:ext cx="4791998" cy="829420"/>
          </a:xfrm>
          <a:prstGeom prst="roundRect">
            <a:avLst/>
          </a:prstGeom>
          <a:ln w="28575">
            <a:solidFill>
              <a:srgbClr val="0069B3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Cera Pro" panose="00000400000000000000" pitchFamily="50" charset="0"/>
              </a:rPr>
              <a:t>Thank you for your attention!</a:t>
            </a:r>
          </a:p>
        </p:txBody>
      </p:sp>
      <p:pic>
        <p:nvPicPr>
          <p:cNvPr id="2" name="Picture 1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B8561526-F7C3-575D-671B-6F744194E0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t="12807" r="4222" b="14249"/>
          <a:stretch/>
        </p:blipFill>
        <p:spPr>
          <a:xfrm>
            <a:off x="7131178" y="2254471"/>
            <a:ext cx="4679643" cy="945646"/>
          </a:xfrm>
          <a:prstGeom prst="rect">
            <a:avLst/>
          </a:prstGeom>
        </p:spPr>
      </p:pic>
      <p:pic>
        <p:nvPicPr>
          <p:cNvPr id="3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E44D7163-2CC8-E19F-E38A-DA548CEE8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463" y="3348711"/>
            <a:ext cx="1013787" cy="926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F65B3-BC05-BA46-CFB4-A4E58F16F0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25784" b="11482"/>
          <a:stretch/>
        </p:blipFill>
        <p:spPr>
          <a:xfrm>
            <a:off x="9085381" y="3624344"/>
            <a:ext cx="2162585" cy="43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0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A068543-5B17-400F-A8A3-D7A47F20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2E25A4-C1CD-4609-B8A9-D26AADFEB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F6F932-4540-4CFF-A0AB-40488CF83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7C43B-40B7-4226-BC61-D70B3C2191F3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E99DB2-5DCC-4C6D-8E37-FFB4F38AF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DISTILL-Phys | Muhammad Abdullah, Kainat Arshad, Abdul Raziq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8D8FEE-87D3-43D6-93F8-E12138C23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DCD0C-D34E-48D2-8D5E-B00D274E3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7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AC0B-A7A3-617E-3156-C86936A7D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84" y="1307749"/>
            <a:ext cx="9877529" cy="1746949"/>
          </a:xfrm>
        </p:spPr>
        <p:txBody>
          <a:bodyPr>
            <a:normAutofit/>
          </a:bodyPr>
          <a:lstStyle/>
          <a:p>
            <a:r>
              <a:rPr lang="de-DE" sz="3200" b="1" dirty="0"/>
              <a:t>Distill-Phys: Knowledge Distillation for Robust Physiological Affect Recognition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E4353-9E9B-50CF-B0C9-8542454337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288" y="5395422"/>
            <a:ext cx="4763424" cy="365125"/>
          </a:xfrm>
        </p:spPr>
        <p:txBody>
          <a:bodyPr/>
          <a:lstStyle/>
          <a:p>
            <a:r>
              <a:rPr lang="de-DE" dirty="0"/>
              <a:t>Muhammad Abdullah, Kainat Arshad, Abdul Raziq</a:t>
            </a:r>
          </a:p>
          <a:p>
            <a:r>
              <a:rPr lang="de-DE" b="1" dirty="0"/>
              <a:t>Supervisor</a:t>
            </a:r>
            <a:r>
              <a:rPr lang="de-DE" dirty="0"/>
              <a:t>: Sarun Varghese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B14F4-5EFF-F946-B7CD-721EEE81E3F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17EF843-1A33-46C2-9EF6-D795E4640F96}" type="datetime4">
              <a:rPr lang="en-US" smtClean="0"/>
              <a:t>June 16,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34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E4D7AD-AC52-45CC-99E6-9AFF1F2A4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207194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EC351-C4C2-4A3A-AF9D-C258A997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Motivation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DB2DF-65ED-4AB6-BB32-0E1B3D41F4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DFBEA5-0018-49E1-813E-FD499BC475F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B590B-AAA9-4DFD-99AA-4724EC3C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39" y="1777693"/>
            <a:ext cx="8084521" cy="41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4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395965" cy="365125"/>
          </a:xfrm>
        </p:spPr>
        <p:txBody>
          <a:bodyPr/>
          <a:lstStyle/>
          <a:p>
            <a:r>
              <a:rPr lang="en-US" dirty="0">
                <a:latin typeface="Cera Pro" panose="00000400000000000000"/>
              </a:rPr>
              <a:t>DISTILL-Phys | Muhammad Abdullah, </a:t>
            </a:r>
            <a:r>
              <a:rPr lang="en-US" dirty="0" err="1">
                <a:latin typeface="Cera Pro" panose="00000400000000000000"/>
              </a:rPr>
              <a:t>Kainat</a:t>
            </a:r>
            <a:r>
              <a:rPr lang="en-US" dirty="0">
                <a:latin typeface="Cera Pro" panose="00000400000000000000"/>
              </a:rPr>
              <a:t> Arshad, Abdul </a:t>
            </a:r>
            <a:r>
              <a:rPr lang="en-US" dirty="0" err="1">
                <a:latin typeface="Cera Pro" panose="00000400000000000000"/>
              </a:rPr>
              <a:t>Raziq</a:t>
            </a:r>
            <a:endParaRPr lang="en-US" dirty="0">
              <a:latin typeface="Cera Pro" panose="0000040000000000000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5647E-E788-2876-86E6-1A266532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4" y="1078149"/>
            <a:ext cx="4122668" cy="502465"/>
          </a:xfrm>
        </p:spPr>
        <p:txBody>
          <a:bodyPr/>
          <a:lstStyle/>
          <a:p>
            <a:r>
              <a:rPr lang="de-DE" dirty="0">
                <a:latin typeface="Cera Pro" panose="00000400000000000000"/>
              </a:rPr>
              <a:t>Data Preprocessing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79828-65C3-1B43-F4C1-1AD22CE56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Preprocess </a:t>
            </a:r>
            <a:r>
              <a:rPr lang="en-US" sz="1800" b="1" dirty="0">
                <a:solidFill>
                  <a:srgbClr val="333333"/>
                </a:solidFill>
                <a:latin typeface="Cera Pro" panose="00000400000000000000"/>
              </a:rPr>
              <a:t>BPM, ECG, respiration</a:t>
            </a: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 streams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Segment into 3 </a:t>
            </a:r>
            <a:r>
              <a:rPr lang="en-US" sz="1800" dirty="0">
                <a:solidFill>
                  <a:srgbClr val="333333"/>
                </a:solidFill>
                <a:latin typeface="Cera Pro" panose="00000400000000000000"/>
              </a:rPr>
              <a:t>sec </a:t>
            </a:r>
            <a:r>
              <a:rPr lang="en-US" sz="1800" b="1" dirty="0">
                <a:solidFill>
                  <a:srgbClr val="333333"/>
                </a:solidFill>
                <a:latin typeface="Cera Pro" panose="00000400000000000000"/>
              </a:rPr>
              <a:t>non-overlapping windows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Aggregate per window (mean, median, mode)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b="0" dirty="0" err="1">
                <a:solidFill>
                  <a:srgbClr val="333333"/>
                </a:solidFill>
                <a:latin typeface="Cera Pro" panose="00000400000000000000"/>
              </a:rPr>
              <a:t>Normalise</a:t>
            </a: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Cera Pro" panose="00000400000000000000"/>
              </a:rPr>
              <a:t>train-set only</a:t>
            </a:r>
            <a:r>
              <a:rPr lang="en-US" sz="1800" b="0" dirty="0">
                <a:solidFill>
                  <a:srgbClr val="333333"/>
                </a:solidFill>
                <a:latin typeface="Cera Pro" panose="00000400000000000000"/>
              </a:rPr>
              <a:t>; assign arousal class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>
                <a:latin typeface="Cera Pro" panose="00000400000000000000"/>
              </a:rPr>
              <a:pPr/>
              <a:t>3</a:t>
            </a:fld>
            <a:endParaRPr lang="en-US" dirty="0">
              <a:latin typeface="Cera Pro" panose="0000040000000000000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406D2E7-B7A2-4ECF-B50C-70F712111A50}" type="datetime4">
              <a:rPr lang="en-US" smtClean="0">
                <a:latin typeface="Cera Pro" panose="00000400000000000000"/>
              </a:rPr>
              <a:t>June 16, 2026</a:t>
            </a:fld>
            <a:endParaRPr lang="de-DE" dirty="0">
              <a:latin typeface="Cera Pro" panose="0000040000000000000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4760E0-FA98-4887-9082-10A6A2FB5D27}"/>
              </a:ext>
            </a:extLst>
          </p:cNvPr>
          <p:cNvSpPr txBox="1"/>
          <p:nvPr/>
        </p:nvSpPr>
        <p:spPr>
          <a:xfrm>
            <a:off x="6568312" y="1736957"/>
            <a:ext cx="4846320" cy="20518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000" b="1">
                <a:solidFill>
                  <a:srgbClr val="0069B3"/>
                </a:solidFill>
                <a:latin typeface="Cera Pro" panose="00000400000000000000"/>
              </a:rPr>
              <a:t>INPUTS → OUTPUT</a:t>
            </a:r>
          </a:p>
        </p:txBody>
      </p:sp>
      <p:sp>
        <p:nvSpPr>
          <p:cNvPr id="36" name="Rounded Rectangle 95">
            <a:extLst>
              <a:ext uri="{FF2B5EF4-FFF2-40B4-BE49-F238E27FC236}">
                <a16:creationId xmlns:a16="http://schemas.microsoft.com/office/drawing/2014/main" id="{86F7849F-1B25-449F-A2BC-DEAAA11A8B98}"/>
              </a:ext>
            </a:extLst>
          </p:cNvPr>
          <p:cNvSpPr/>
          <p:nvPr/>
        </p:nvSpPr>
        <p:spPr>
          <a:xfrm>
            <a:off x="6659752" y="2102717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C447C"/>
                </a:solidFill>
                <a:latin typeface="Cera Pro" panose="00000400000000000000"/>
              </a:rPr>
              <a:t>BPM.csv</a:t>
            </a:r>
          </a:p>
        </p:txBody>
      </p:sp>
      <p:sp>
        <p:nvSpPr>
          <p:cNvPr id="37" name="Rounded Rectangle 96">
            <a:extLst>
              <a:ext uri="{FF2B5EF4-FFF2-40B4-BE49-F238E27FC236}">
                <a16:creationId xmlns:a16="http://schemas.microsoft.com/office/drawing/2014/main" id="{B4417774-F88A-4333-BA7E-769D654EBA2D}"/>
              </a:ext>
            </a:extLst>
          </p:cNvPr>
          <p:cNvSpPr/>
          <p:nvPr/>
        </p:nvSpPr>
        <p:spPr>
          <a:xfrm>
            <a:off x="6659752" y="2541629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 dirty="0">
                <a:solidFill>
                  <a:srgbClr val="0C447C"/>
                </a:solidFill>
                <a:latin typeface="Cera Pro" panose="00000400000000000000"/>
              </a:rPr>
              <a:t>ECG.csv</a:t>
            </a:r>
          </a:p>
        </p:txBody>
      </p:sp>
      <p:sp>
        <p:nvSpPr>
          <p:cNvPr id="38" name="Rounded Rectangle 97">
            <a:extLst>
              <a:ext uri="{FF2B5EF4-FFF2-40B4-BE49-F238E27FC236}">
                <a16:creationId xmlns:a16="http://schemas.microsoft.com/office/drawing/2014/main" id="{02572905-0A8F-4912-9602-FE46EC86E00B}"/>
              </a:ext>
            </a:extLst>
          </p:cNvPr>
          <p:cNvSpPr/>
          <p:nvPr/>
        </p:nvSpPr>
        <p:spPr>
          <a:xfrm>
            <a:off x="6659752" y="2980541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 dirty="0">
                <a:solidFill>
                  <a:srgbClr val="0C447C"/>
                </a:solidFill>
                <a:latin typeface="Cera Pro" panose="00000400000000000000"/>
              </a:rPr>
              <a:t>resp.csv</a:t>
            </a:r>
          </a:p>
        </p:txBody>
      </p:sp>
      <p:sp>
        <p:nvSpPr>
          <p:cNvPr id="39" name="Rounded Rectangle 98">
            <a:extLst>
              <a:ext uri="{FF2B5EF4-FFF2-40B4-BE49-F238E27FC236}">
                <a16:creationId xmlns:a16="http://schemas.microsoft.com/office/drawing/2014/main" id="{0678A6F5-E2CE-4E0E-BD22-70301271F374}"/>
              </a:ext>
            </a:extLst>
          </p:cNvPr>
          <p:cNvSpPr/>
          <p:nvPr/>
        </p:nvSpPr>
        <p:spPr>
          <a:xfrm>
            <a:off x="6659752" y="3419453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633806"/>
                </a:solidFill>
                <a:latin typeface="Cera Pro" panose="00000400000000000000"/>
              </a:rPr>
              <a:t>EDA label</a:t>
            </a:r>
          </a:p>
        </p:txBody>
      </p:sp>
      <p:sp>
        <p:nvSpPr>
          <p:cNvPr id="40" name="Right Arrow 99">
            <a:extLst>
              <a:ext uri="{FF2B5EF4-FFF2-40B4-BE49-F238E27FC236}">
                <a16:creationId xmlns:a16="http://schemas.microsoft.com/office/drawing/2014/main" id="{4BCEB876-C3FC-4750-87CE-0D7DD31785C1}"/>
              </a:ext>
            </a:extLst>
          </p:cNvPr>
          <p:cNvSpPr/>
          <p:nvPr/>
        </p:nvSpPr>
        <p:spPr>
          <a:xfrm>
            <a:off x="8122791" y="2742797"/>
            <a:ext cx="457200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41" name="Rounded Rectangle 100">
            <a:extLst>
              <a:ext uri="{FF2B5EF4-FFF2-40B4-BE49-F238E27FC236}">
                <a16:creationId xmlns:a16="http://schemas.microsoft.com/office/drawing/2014/main" id="{C500D652-2915-45E6-9AA3-248E2F0DA517}"/>
              </a:ext>
            </a:extLst>
          </p:cNvPr>
          <p:cNvSpPr/>
          <p:nvPr/>
        </p:nvSpPr>
        <p:spPr>
          <a:xfrm>
            <a:off x="8625712" y="2559917"/>
            <a:ext cx="1234440" cy="731520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635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3C3489"/>
                </a:solidFill>
                <a:latin typeface="Cera Pro" panose="00000400000000000000"/>
              </a:rPr>
              <a:t>Merge on</a:t>
            </a:r>
          </a:p>
          <a:p>
            <a:pPr algn="ctr"/>
            <a:r>
              <a:rPr sz="900">
                <a:solidFill>
                  <a:srgbClr val="3C3489"/>
                </a:solidFill>
                <a:latin typeface="Cera Pro" panose="00000400000000000000"/>
              </a:rPr>
              <a:t>timestamp</a:t>
            </a:r>
          </a:p>
        </p:txBody>
      </p:sp>
      <p:sp>
        <p:nvSpPr>
          <p:cNvPr id="42" name="Right Arrow 101">
            <a:extLst>
              <a:ext uri="{FF2B5EF4-FFF2-40B4-BE49-F238E27FC236}">
                <a16:creationId xmlns:a16="http://schemas.microsoft.com/office/drawing/2014/main" id="{7262DE97-E953-44CD-9F91-6A39D6585A05}"/>
              </a:ext>
            </a:extLst>
          </p:cNvPr>
          <p:cNvSpPr/>
          <p:nvPr/>
        </p:nvSpPr>
        <p:spPr>
          <a:xfrm>
            <a:off x="9860152" y="2742797"/>
            <a:ext cx="411480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43" name="Rounded Rectangle 102">
            <a:extLst>
              <a:ext uri="{FF2B5EF4-FFF2-40B4-BE49-F238E27FC236}">
                <a16:creationId xmlns:a16="http://schemas.microsoft.com/office/drawing/2014/main" id="{A2C77799-6E6A-4F50-8C16-C3ECD8CB6734}"/>
              </a:ext>
            </a:extLst>
          </p:cNvPr>
          <p:cNvSpPr/>
          <p:nvPr/>
        </p:nvSpPr>
        <p:spPr>
          <a:xfrm>
            <a:off x="10271632" y="2559917"/>
            <a:ext cx="1051560" cy="73152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635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85041"/>
                </a:solidFill>
                <a:latin typeface="Cera Pro" panose="00000400000000000000"/>
              </a:rPr>
              <a:t>3-sec</a:t>
            </a:r>
          </a:p>
          <a:p>
            <a:pPr algn="ctr"/>
            <a:r>
              <a:rPr sz="900">
                <a:solidFill>
                  <a:srgbClr val="085041"/>
                </a:solidFill>
                <a:latin typeface="Cera Pro" panose="00000400000000000000"/>
              </a:rPr>
              <a:t>windows</a:t>
            </a:r>
          </a:p>
        </p:txBody>
      </p:sp>
      <p:sp>
        <p:nvSpPr>
          <p:cNvPr id="44" name="Down Arrow 103">
            <a:extLst>
              <a:ext uri="{FF2B5EF4-FFF2-40B4-BE49-F238E27FC236}">
                <a16:creationId xmlns:a16="http://schemas.microsoft.com/office/drawing/2014/main" id="{80C37DC9-94A2-411E-AC1E-CE4E8C28D5C0}"/>
              </a:ext>
            </a:extLst>
          </p:cNvPr>
          <p:cNvSpPr/>
          <p:nvPr/>
        </p:nvSpPr>
        <p:spPr>
          <a:xfrm>
            <a:off x="10728832" y="3291437"/>
            <a:ext cx="164592" cy="365760"/>
          </a:xfrm>
          <a:prstGeom prst="down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45" name="Rounded Rectangle 104">
            <a:extLst>
              <a:ext uri="{FF2B5EF4-FFF2-40B4-BE49-F238E27FC236}">
                <a16:creationId xmlns:a16="http://schemas.microsoft.com/office/drawing/2014/main" id="{8711F002-E3D3-4CAB-8668-CB82DBCC9E47}"/>
              </a:ext>
            </a:extLst>
          </p:cNvPr>
          <p:cNvSpPr/>
          <p:nvPr/>
        </p:nvSpPr>
        <p:spPr>
          <a:xfrm>
            <a:off x="6659752" y="4057247"/>
            <a:ext cx="4663440" cy="50292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C447C"/>
                </a:solidFill>
                <a:latin typeface="Cera Pro" panose="00000400000000000000"/>
              </a:rPr>
              <a:t>Output: train / devel / test CSVs  ·  28 columns each</a:t>
            </a:r>
          </a:p>
        </p:txBody>
      </p:sp>
      <p:sp>
        <p:nvSpPr>
          <p:cNvPr id="46" name="Rounded Rectangle 105">
            <a:extLst>
              <a:ext uri="{FF2B5EF4-FFF2-40B4-BE49-F238E27FC236}">
                <a16:creationId xmlns:a16="http://schemas.microsoft.com/office/drawing/2014/main" id="{3626F6F0-3DA1-4BE2-A27B-0A9567928350}"/>
              </a:ext>
            </a:extLst>
          </p:cNvPr>
          <p:cNvSpPr/>
          <p:nvPr/>
        </p:nvSpPr>
        <p:spPr>
          <a:xfrm>
            <a:off x="704088" y="5349240"/>
            <a:ext cx="1737360" cy="6858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6,926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Total windows</a:t>
            </a:r>
          </a:p>
        </p:txBody>
      </p:sp>
      <p:sp>
        <p:nvSpPr>
          <p:cNvPr id="47" name="Rounded Rectangle 106">
            <a:extLst>
              <a:ext uri="{FF2B5EF4-FFF2-40B4-BE49-F238E27FC236}">
                <a16:creationId xmlns:a16="http://schemas.microsoft.com/office/drawing/2014/main" id="{64E89924-4751-4999-A154-69488FB7751C}"/>
              </a:ext>
            </a:extLst>
          </p:cNvPr>
          <p:cNvSpPr/>
          <p:nvPr/>
        </p:nvSpPr>
        <p:spPr>
          <a:xfrm>
            <a:off x="2532888" y="5349240"/>
            <a:ext cx="1737360" cy="6858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69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Subjects</a:t>
            </a:r>
          </a:p>
        </p:txBody>
      </p:sp>
      <p:sp>
        <p:nvSpPr>
          <p:cNvPr id="48" name="Rounded Rectangle 107">
            <a:extLst>
              <a:ext uri="{FF2B5EF4-FFF2-40B4-BE49-F238E27FC236}">
                <a16:creationId xmlns:a16="http://schemas.microsoft.com/office/drawing/2014/main" id="{D78007E9-0F92-4CAA-B29F-373A45AA4345}"/>
              </a:ext>
            </a:extLst>
          </p:cNvPr>
          <p:cNvSpPr/>
          <p:nvPr/>
        </p:nvSpPr>
        <p:spPr>
          <a:xfrm>
            <a:off x="4361688" y="5349240"/>
            <a:ext cx="1737360" cy="6858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28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Columns/window</a:t>
            </a:r>
          </a:p>
        </p:txBody>
      </p:sp>
      <p:sp>
        <p:nvSpPr>
          <p:cNvPr id="49" name="Rounded Rectangle 108">
            <a:extLst>
              <a:ext uri="{FF2B5EF4-FFF2-40B4-BE49-F238E27FC236}">
                <a16:creationId xmlns:a16="http://schemas.microsoft.com/office/drawing/2014/main" id="{59AED1A4-20A2-4B4D-A1D8-4C72F636C32C}"/>
              </a:ext>
            </a:extLst>
          </p:cNvPr>
          <p:cNvSpPr/>
          <p:nvPr/>
        </p:nvSpPr>
        <p:spPr>
          <a:xfrm>
            <a:off x="6492240" y="5349240"/>
            <a:ext cx="2194560" cy="6858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3 sec = 6 rows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Window length</a:t>
            </a:r>
          </a:p>
        </p:txBody>
      </p:sp>
      <p:sp>
        <p:nvSpPr>
          <p:cNvPr id="50" name="Rounded Rectangle 109">
            <a:extLst>
              <a:ext uri="{FF2B5EF4-FFF2-40B4-BE49-F238E27FC236}">
                <a16:creationId xmlns:a16="http://schemas.microsoft.com/office/drawing/2014/main" id="{1FD0169F-6F70-4442-8756-279ECFE37104}"/>
              </a:ext>
            </a:extLst>
          </p:cNvPr>
          <p:cNvSpPr/>
          <p:nvPr/>
        </p:nvSpPr>
        <p:spPr>
          <a:xfrm>
            <a:off x="8778240" y="5349240"/>
            <a:ext cx="2377440" cy="68580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~0%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Missing values</a:t>
            </a:r>
          </a:p>
        </p:txBody>
      </p:sp>
    </p:spTree>
    <p:extLst>
      <p:ext uri="{BB962C8B-B14F-4D97-AF65-F5344CB8AC3E}">
        <p14:creationId xmlns:p14="http://schemas.microsoft.com/office/powerpoint/2010/main" val="292727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95C445-D94B-4FF4-B895-193130D4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437539" cy="365125"/>
          </a:xfrm>
        </p:spPr>
        <p:txBody>
          <a:bodyPr/>
          <a:lstStyle/>
          <a:p>
            <a:r>
              <a:rPr lang="en-US">
                <a:latin typeface="Cera Pro" panose="00000400000000000000"/>
              </a:rPr>
              <a:t>DISTILL-Phys | Muhammad Abdullah, Kainat Arshad, Abdul Raziq</a:t>
            </a:r>
            <a:endParaRPr lang="en-US" dirty="0">
              <a:latin typeface="Cera Pro" panose="0000040000000000000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44AD1F-EB74-4DBD-89A8-AB2C7232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3089139" cy="502465"/>
          </a:xfrm>
        </p:spPr>
        <p:txBody>
          <a:bodyPr>
            <a:normAutofit/>
          </a:bodyPr>
          <a:lstStyle/>
          <a:p>
            <a:r>
              <a:rPr lang="en-US" dirty="0">
                <a:latin typeface="Cera Pro" panose="00000400000000000000"/>
              </a:rPr>
              <a:t>Pre-processing pipeline</a:t>
            </a:r>
            <a:endParaRPr lang="en-PK" dirty="0">
              <a:latin typeface="Cera Pro" panose="0000040000000000000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297E6-5314-43A0-876F-7ED3095421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0519" y="3103339"/>
            <a:ext cx="2886716" cy="2538984"/>
          </a:xfrm>
        </p:spPr>
        <p:txBody>
          <a:bodyPr>
            <a:normAutofit lnSpcReduction="10000"/>
          </a:bodyPr>
          <a:lstStyle/>
          <a:p>
            <a:pPr marL="265113" indent="0">
              <a:buNone/>
            </a:pPr>
            <a:r>
              <a:rPr lang="en-US" sz="1700" b="1" dirty="0">
                <a:latin typeface="Cera Pro" panose="00000400000000000000"/>
              </a:rPr>
              <a:t>Stage 1-2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Merge 3 signals + label on timestamp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Window = 6 rows, hop = 6 (no overlap)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No leakage between windows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CCD5-8702-43F1-9F2D-8A521C2AAC5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>
                <a:latin typeface="Cera Pro" panose="00000400000000000000"/>
              </a:rPr>
              <a:pPr/>
              <a:t>4</a:t>
            </a:fld>
            <a:endParaRPr lang="en-US" dirty="0">
              <a:latin typeface="Cera Pro" panose="0000040000000000000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343E5A-174D-41E0-90C3-55ED4752C8C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>
                <a:latin typeface="Cera Pro" panose="00000400000000000000"/>
              </a:rPr>
              <a:t>June 16, 2026</a:t>
            </a:fld>
            <a:endParaRPr lang="de-DE" dirty="0">
              <a:latin typeface="Cera Pro" panose="00000400000000000000"/>
            </a:endParaRPr>
          </a:p>
        </p:txBody>
      </p:sp>
      <p:sp>
        <p:nvSpPr>
          <p:cNvPr id="7" name="Rounded Rectangle 90">
            <a:extLst>
              <a:ext uri="{FF2B5EF4-FFF2-40B4-BE49-F238E27FC236}">
                <a16:creationId xmlns:a16="http://schemas.microsoft.com/office/drawing/2014/main" id="{32049053-E2EF-47EC-A15E-9C055341A1BA}"/>
              </a:ext>
            </a:extLst>
          </p:cNvPr>
          <p:cNvSpPr/>
          <p:nvPr/>
        </p:nvSpPr>
        <p:spPr>
          <a:xfrm>
            <a:off x="700519" y="1795131"/>
            <a:ext cx="1993392" cy="86868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1">
                <a:solidFill>
                  <a:srgbClr val="0C447C"/>
                </a:solidFill>
                <a:latin typeface="Cera Pro" panose="00000400000000000000"/>
              </a:rPr>
              <a:t>Load &amp; merge</a:t>
            </a:r>
          </a:p>
          <a:p>
            <a:pPr algn="ctr"/>
            <a:r>
              <a:rPr sz="900">
                <a:solidFill>
                  <a:srgbClr val="0C447C"/>
                </a:solidFill>
                <a:latin typeface="Cera Pro" panose="00000400000000000000"/>
              </a:rPr>
              <a:t>BPM·ECG·resp + label</a:t>
            </a:r>
          </a:p>
        </p:txBody>
      </p:sp>
      <p:sp>
        <p:nvSpPr>
          <p:cNvPr id="8" name="Right Arrow 91">
            <a:extLst>
              <a:ext uri="{FF2B5EF4-FFF2-40B4-BE49-F238E27FC236}">
                <a16:creationId xmlns:a16="http://schemas.microsoft.com/office/drawing/2014/main" id="{33250102-2D60-4B44-A818-98871B9803C5}"/>
              </a:ext>
            </a:extLst>
          </p:cNvPr>
          <p:cNvSpPr/>
          <p:nvPr/>
        </p:nvSpPr>
        <p:spPr>
          <a:xfrm>
            <a:off x="2693911" y="2147174"/>
            <a:ext cx="164592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9" name="Rounded Rectangle 92">
            <a:extLst>
              <a:ext uri="{FF2B5EF4-FFF2-40B4-BE49-F238E27FC236}">
                <a16:creationId xmlns:a16="http://schemas.microsoft.com/office/drawing/2014/main" id="{FFC55303-65F5-421C-A414-A1A815A4D708}"/>
              </a:ext>
            </a:extLst>
          </p:cNvPr>
          <p:cNvSpPr/>
          <p:nvPr/>
        </p:nvSpPr>
        <p:spPr>
          <a:xfrm>
            <a:off x="2858503" y="1795131"/>
            <a:ext cx="1993392" cy="868680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635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1">
                <a:solidFill>
                  <a:srgbClr val="3C3489"/>
                </a:solidFill>
                <a:latin typeface="Cera Pro" panose="00000400000000000000"/>
              </a:rPr>
              <a:t>Windowing</a:t>
            </a:r>
          </a:p>
          <a:p>
            <a:pPr algn="ctr"/>
            <a:r>
              <a:rPr sz="900">
                <a:solidFill>
                  <a:srgbClr val="3C3489"/>
                </a:solidFill>
                <a:latin typeface="Cera Pro" panose="00000400000000000000"/>
              </a:rPr>
              <a:t>3 sec = 6 rows</a:t>
            </a:r>
          </a:p>
        </p:txBody>
      </p:sp>
      <p:sp>
        <p:nvSpPr>
          <p:cNvPr id="10" name="Right Arrow 93">
            <a:extLst>
              <a:ext uri="{FF2B5EF4-FFF2-40B4-BE49-F238E27FC236}">
                <a16:creationId xmlns:a16="http://schemas.microsoft.com/office/drawing/2014/main" id="{F4FC4397-988F-4962-A31B-DA6959DF04F8}"/>
              </a:ext>
            </a:extLst>
          </p:cNvPr>
          <p:cNvSpPr/>
          <p:nvPr/>
        </p:nvSpPr>
        <p:spPr>
          <a:xfrm>
            <a:off x="4851895" y="2147174"/>
            <a:ext cx="164592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1" name="Rounded Rectangle 94">
            <a:extLst>
              <a:ext uri="{FF2B5EF4-FFF2-40B4-BE49-F238E27FC236}">
                <a16:creationId xmlns:a16="http://schemas.microsoft.com/office/drawing/2014/main" id="{C8DE9C2B-33C5-473F-841F-87BEE30EF2AA}"/>
              </a:ext>
            </a:extLst>
          </p:cNvPr>
          <p:cNvSpPr/>
          <p:nvPr/>
        </p:nvSpPr>
        <p:spPr>
          <a:xfrm>
            <a:off x="5016487" y="1795131"/>
            <a:ext cx="1993392" cy="868680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635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1">
                <a:solidFill>
                  <a:srgbClr val="085041"/>
                </a:solidFill>
                <a:latin typeface="Cera Pro" panose="00000400000000000000"/>
              </a:rPr>
              <a:t>Aggregation</a:t>
            </a:r>
          </a:p>
          <a:p>
            <a:pPr algn="ctr"/>
            <a:r>
              <a:rPr sz="900">
                <a:solidFill>
                  <a:srgbClr val="085041"/>
                </a:solidFill>
                <a:latin typeface="Cera Pro" panose="00000400000000000000"/>
              </a:rPr>
              <a:t>mean·median·mode</a:t>
            </a:r>
          </a:p>
        </p:txBody>
      </p:sp>
      <p:sp>
        <p:nvSpPr>
          <p:cNvPr id="12" name="Right Arrow 95">
            <a:extLst>
              <a:ext uri="{FF2B5EF4-FFF2-40B4-BE49-F238E27FC236}">
                <a16:creationId xmlns:a16="http://schemas.microsoft.com/office/drawing/2014/main" id="{91952D87-1BF9-4297-9D4F-815E5EAFF921}"/>
              </a:ext>
            </a:extLst>
          </p:cNvPr>
          <p:cNvSpPr/>
          <p:nvPr/>
        </p:nvSpPr>
        <p:spPr>
          <a:xfrm>
            <a:off x="7009879" y="2147174"/>
            <a:ext cx="164592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3" name="Rounded Rectangle 96">
            <a:extLst>
              <a:ext uri="{FF2B5EF4-FFF2-40B4-BE49-F238E27FC236}">
                <a16:creationId xmlns:a16="http://schemas.microsoft.com/office/drawing/2014/main" id="{D64C2BA5-DE11-4D8C-A98E-4B56BE3CFE36}"/>
              </a:ext>
            </a:extLst>
          </p:cNvPr>
          <p:cNvSpPr/>
          <p:nvPr/>
        </p:nvSpPr>
        <p:spPr>
          <a:xfrm>
            <a:off x="7174471" y="1795131"/>
            <a:ext cx="1993392" cy="86868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1">
                <a:solidFill>
                  <a:srgbClr val="633806"/>
                </a:solidFill>
                <a:latin typeface="Cera Pro" panose="00000400000000000000"/>
              </a:rPr>
              <a:t>Normalise</a:t>
            </a:r>
          </a:p>
          <a:p>
            <a:pPr algn="ctr"/>
            <a:r>
              <a:rPr sz="900">
                <a:solidFill>
                  <a:srgbClr val="633806"/>
                </a:solidFill>
                <a:latin typeface="Cera Pro" panose="00000400000000000000"/>
              </a:rPr>
              <a:t>Z-score (train μ,σ)</a:t>
            </a:r>
          </a:p>
        </p:txBody>
      </p:sp>
      <p:sp>
        <p:nvSpPr>
          <p:cNvPr id="14" name="Right Arrow 97">
            <a:extLst>
              <a:ext uri="{FF2B5EF4-FFF2-40B4-BE49-F238E27FC236}">
                <a16:creationId xmlns:a16="http://schemas.microsoft.com/office/drawing/2014/main" id="{17E050A1-D2F8-44C5-9528-1AD6064110C0}"/>
              </a:ext>
            </a:extLst>
          </p:cNvPr>
          <p:cNvSpPr/>
          <p:nvPr/>
        </p:nvSpPr>
        <p:spPr>
          <a:xfrm>
            <a:off x="9167863" y="2147174"/>
            <a:ext cx="164592" cy="164592"/>
          </a:xfrm>
          <a:prstGeom prst="rightArrow">
            <a:avLst/>
          </a:prstGeom>
          <a:solidFill>
            <a:srgbClr val="888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5" name="Rounded Rectangle 98">
            <a:extLst>
              <a:ext uri="{FF2B5EF4-FFF2-40B4-BE49-F238E27FC236}">
                <a16:creationId xmlns:a16="http://schemas.microsoft.com/office/drawing/2014/main" id="{0E60FE85-7706-4FB2-8BF4-62B562337DB6}"/>
              </a:ext>
            </a:extLst>
          </p:cNvPr>
          <p:cNvSpPr/>
          <p:nvPr/>
        </p:nvSpPr>
        <p:spPr>
          <a:xfrm>
            <a:off x="9332455" y="1795131"/>
            <a:ext cx="1993392" cy="86868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6350">
            <a:solidFill>
              <a:srgbClr val="A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200" b="1">
                <a:solidFill>
                  <a:srgbClr val="791F1F"/>
                </a:solidFill>
                <a:latin typeface="Cera Pro" panose="00000400000000000000"/>
              </a:rPr>
              <a:t>Label assign</a:t>
            </a:r>
          </a:p>
          <a:p>
            <a:pPr algn="ctr"/>
            <a:r>
              <a:rPr sz="900">
                <a:solidFill>
                  <a:srgbClr val="791F1F"/>
                </a:solidFill>
                <a:latin typeface="Cera Pro" panose="00000400000000000000"/>
              </a:rPr>
              <a:t>Low / Med / High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BF94376-772B-4711-A14D-AC7871D77F56}"/>
              </a:ext>
            </a:extLst>
          </p:cNvPr>
          <p:cNvSpPr txBox="1">
            <a:spLocks/>
          </p:cNvSpPr>
          <p:nvPr/>
        </p:nvSpPr>
        <p:spPr>
          <a:xfrm>
            <a:off x="4569825" y="3098151"/>
            <a:ext cx="2886716" cy="2538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8163" indent="-27305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1pPr>
            <a:lvl2pPr marL="985838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2pPr>
            <a:lvl3pPr marL="1435100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3pPr>
            <a:lvl4pPr marL="1884363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4pPr>
            <a:lvl5pPr marL="2333625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0">
              <a:buFont typeface="Wingdings" panose="05000000000000000000" pitchFamily="2" charset="2"/>
              <a:buNone/>
            </a:pPr>
            <a:r>
              <a:rPr lang="en-US" sz="1700" b="1" dirty="0">
                <a:latin typeface="Cera Pro" panose="00000400000000000000"/>
              </a:rPr>
              <a:t>Stage 3-4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Per window: mean, median, mode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Z-score from train-only </a:t>
            </a:r>
            <a:r>
              <a:rPr lang="el-GR" sz="1500" dirty="0">
                <a:solidFill>
                  <a:srgbClr val="333333"/>
                </a:solidFill>
                <a:latin typeface="Calibri"/>
              </a:rPr>
              <a:t>μ, σ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500" dirty="0">
                <a:solidFill>
                  <a:srgbClr val="333333"/>
                </a:solidFill>
                <a:latin typeface="Cera Pro" panose="00000400000000000000"/>
              </a:rPr>
              <a:t>Raw + _norm columns both kept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14775D9-A316-4DB2-95BC-8F8F171609B2}"/>
              </a:ext>
            </a:extLst>
          </p:cNvPr>
          <p:cNvSpPr txBox="1">
            <a:spLocks/>
          </p:cNvSpPr>
          <p:nvPr/>
        </p:nvSpPr>
        <p:spPr>
          <a:xfrm>
            <a:off x="8439131" y="3098151"/>
            <a:ext cx="2886716" cy="25389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538163" indent="-27305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1pPr>
            <a:lvl2pPr marL="985838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2pPr>
            <a:lvl3pPr marL="1435100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3pPr>
            <a:lvl4pPr marL="1884363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4pPr>
            <a:lvl5pPr marL="2333625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0">
              <a:buFont typeface="Wingdings" panose="05000000000000000000" pitchFamily="2" charset="2"/>
              <a:buNone/>
            </a:pPr>
            <a:r>
              <a:rPr lang="en-US" sz="1900" b="1" dirty="0">
                <a:latin typeface="Cera Pro" panose="00000400000000000000"/>
              </a:rPr>
              <a:t>Stage 5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600" dirty="0" err="1">
                <a:solidFill>
                  <a:srgbClr val="333333"/>
                </a:solidFill>
                <a:latin typeface="Cera Pro" panose="00000400000000000000"/>
              </a:rPr>
              <a:t>Tertile</a:t>
            </a:r>
            <a:r>
              <a:rPr lang="en-US" sz="1600" dirty="0">
                <a:solidFill>
                  <a:srgbClr val="333333"/>
                </a:solidFill>
                <a:latin typeface="Cera Pro" panose="00000400000000000000"/>
              </a:rPr>
              <a:t> split on train </a:t>
            </a:r>
            <a:r>
              <a:rPr lang="en-US" sz="1600" dirty="0" err="1">
                <a:solidFill>
                  <a:srgbClr val="333333"/>
                </a:solidFill>
                <a:latin typeface="Cera Pro" panose="00000400000000000000"/>
              </a:rPr>
              <a:t>label_mean</a:t>
            </a:r>
            <a:endParaRPr lang="en-US" sz="1600" dirty="0">
              <a:solidFill>
                <a:srgbClr val="333333"/>
              </a:solidFill>
              <a:latin typeface="Cera Pro" panose="00000400000000000000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600" dirty="0">
                <a:solidFill>
                  <a:srgbClr val="333333"/>
                </a:solidFill>
                <a:latin typeface="Cera Pro" panose="00000400000000000000"/>
              </a:rPr>
              <a:t>Low 33% · Medium 33% · High 34%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600" dirty="0">
                <a:solidFill>
                  <a:srgbClr val="666666"/>
                </a:solidFill>
                <a:latin typeface="Cera Pro" panose="00000400000000000000"/>
              </a:rPr>
              <a:t>Refs: </a:t>
            </a:r>
            <a:r>
              <a:rPr lang="en-US" sz="1600" dirty="0" err="1">
                <a:solidFill>
                  <a:srgbClr val="666666"/>
                </a:solidFill>
                <a:latin typeface="Cera Pro" panose="00000400000000000000"/>
              </a:rPr>
              <a:t>Wiem</a:t>
            </a:r>
            <a:r>
              <a:rPr lang="en-US" sz="1600" dirty="0">
                <a:solidFill>
                  <a:srgbClr val="666666"/>
                </a:solidFill>
                <a:latin typeface="Cera Pro" panose="00000400000000000000"/>
              </a:rPr>
              <a:t> &amp; </a:t>
            </a:r>
            <a:r>
              <a:rPr lang="en-US" sz="1600" dirty="0" err="1">
                <a:solidFill>
                  <a:srgbClr val="666666"/>
                </a:solidFill>
                <a:latin typeface="Cera Pro" panose="00000400000000000000"/>
              </a:rPr>
              <a:t>Lachiri</a:t>
            </a:r>
            <a:r>
              <a:rPr lang="en-US" sz="1600" dirty="0">
                <a:solidFill>
                  <a:srgbClr val="666666"/>
                </a:solidFill>
                <a:latin typeface="Cera Pro" panose="00000400000000000000"/>
              </a:rPr>
              <a:t> 2017; Sanchez-</a:t>
            </a:r>
            <a:r>
              <a:rPr lang="en-US" sz="1600" dirty="0" err="1">
                <a:solidFill>
                  <a:srgbClr val="666666"/>
                </a:solidFill>
                <a:latin typeface="Cera Pro" panose="00000400000000000000"/>
              </a:rPr>
              <a:t>Reolid</a:t>
            </a:r>
            <a:r>
              <a:rPr lang="en-US" sz="1600" dirty="0">
                <a:solidFill>
                  <a:srgbClr val="666666"/>
                </a:solidFill>
                <a:latin typeface="Cera Pro" panose="00000400000000000000"/>
              </a:rPr>
              <a:t> 2022</a:t>
            </a:r>
          </a:p>
        </p:txBody>
      </p:sp>
    </p:spTree>
    <p:extLst>
      <p:ext uri="{BB962C8B-B14F-4D97-AF65-F5344CB8AC3E}">
        <p14:creationId xmlns:p14="http://schemas.microsoft.com/office/powerpoint/2010/main" val="257739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BD27D6-63A5-4B68-B2FB-B9860FF90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256055" cy="365125"/>
          </a:xfrm>
        </p:spPr>
        <p:txBody>
          <a:bodyPr/>
          <a:lstStyle/>
          <a:p>
            <a:r>
              <a:rPr lang="en-US" dirty="0">
                <a:latin typeface="Cera Pro" panose="00000400000000000000"/>
              </a:rPr>
              <a:t>DISTILL-Phys | Muhammad Abdullah, </a:t>
            </a:r>
            <a:r>
              <a:rPr lang="en-US" dirty="0" err="1">
                <a:latin typeface="Cera Pro" panose="00000400000000000000"/>
              </a:rPr>
              <a:t>Kainat</a:t>
            </a:r>
            <a:r>
              <a:rPr lang="en-US" dirty="0">
                <a:latin typeface="Cera Pro" panose="00000400000000000000"/>
              </a:rPr>
              <a:t> Arshad, Abdul </a:t>
            </a:r>
            <a:r>
              <a:rPr lang="en-US" dirty="0" err="1">
                <a:latin typeface="Cera Pro" panose="00000400000000000000"/>
              </a:rPr>
              <a:t>Raziq</a:t>
            </a:r>
            <a:endParaRPr lang="en-US" dirty="0">
              <a:latin typeface="Cera Pro" panose="0000040000000000000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949247-46FC-49F2-8BF4-6B75162F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ra Pro" panose="00000400000000000000"/>
              </a:rPr>
              <a:t>Design Decisions</a:t>
            </a:r>
            <a:endParaRPr lang="en-PK" dirty="0">
              <a:latin typeface="Cera Pro" panose="0000040000000000000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FB06D-AD18-4CD5-98AD-A074A28779F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>
                <a:latin typeface="Cera Pro" panose="00000400000000000000"/>
              </a:rPr>
              <a:pPr/>
              <a:t>5</a:t>
            </a:fld>
            <a:endParaRPr lang="en-US" dirty="0">
              <a:latin typeface="Cera Pro" panose="0000040000000000000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525038-EA12-490E-8985-DB81E25498F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>
                <a:latin typeface="Cera Pro" panose="00000400000000000000"/>
              </a:rPr>
              <a:t>June 16, 2026</a:t>
            </a:fld>
            <a:endParaRPr lang="de-DE" dirty="0">
              <a:latin typeface="Cera Pro" panose="00000400000000000000"/>
            </a:endParaRPr>
          </a:p>
        </p:txBody>
      </p:sp>
      <p:pic>
        <p:nvPicPr>
          <p:cNvPr id="7" name="Picture 6" descr="chart_tertile.png">
            <a:extLst>
              <a:ext uri="{FF2B5EF4-FFF2-40B4-BE49-F238E27FC236}">
                <a16:creationId xmlns:a16="http://schemas.microsoft.com/office/drawing/2014/main" id="{5E87C563-BB95-42B5-AACB-8739D2F2F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79" y="4596213"/>
            <a:ext cx="9692640" cy="1875800"/>
          </a:xfrm>
          <a:prstGeom prst="rect">
            <a:avLst/>
          </a:prstGeom>
        </p:spPr>
      </p:pic>
      <p:sp>
        <p:nvSpPr>
          <p:cNvPr id="8" name="Rounded Rectangle 90">
            <a:extLst>
              <a:ext uri="{FF2B5EF4-FFF2-40B4-BE49-F238E27FC236}">
                <a16:creationId xmlns:a16="http://schemas.microsoft.com/office/drawing/2014/main" id="{66AF3832-5BEF-439B-BB5C-5D9DC7352B05}"/>
              </a:ext>
            </a:extLst>
          </p:cNvPr>
          <p:cNvSpPr/>
          <p:nvPr/>
        </p:nvSpPr>
        <p:spPr>
          <a:xfrm>
            <a:off x="701084" y="1664766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9" name="Rounded Rectangle 91">
            <a:extLst>
              <a:ext uri="{FF2B5EF4-FFF2-40B4-BE49-F238E27FC236}">
                <a16:creationId xmlns:a16="http://schemas.microsoft.com/office/drawing/2014/main" id="{B2DB17EA-AE5D-4CB6-94DB-FE8110F66DB9}"/>
              </a:ext>
            </a:extLst>
          </p:cNvPr>
          <p:cNvSpPr/>
          <p:nvPr/>
        </p:nvSpPr>
        <p:spPr>
          <a:xfrm>
            <a:off x="701084" y="1664766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2FEC9-16AD-486E-9252-C64830397C30}"/>
              </a:ext>
            </a:extLst>
          </p:cNvPr>
          <p:cNvSpPr txBox="1"/>
          <p:nvPr/>
        </p:nvSpPr>
        <p:spPr>
          <a:xfrm>
            <a:off x="957116" y="1774494"/>
            <a:ext cx="4800600" cy="2975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600" b="1" dirty="0">
                <a:solidFill>
                  <a:srgbClr val="085041"/>
                </a:solidFill>
                <a:latin typeface="Cera Pro" panose="00000400000000000000"/>
              </a:rPr>
              <a:t>Why 3-second windows?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567B79-8A44-4DCC-95AC-BFC78DCC8A4B}"/>
              </a:ext>
            </a:extLst>
          </p:cNvPr>
          <p:cNvSpPr txBox="1"/>
          <p:nvPr/>
        </p:nvSpPr>
        <p:spPr>
          <a:xfrm>
            <a:off x="957116" y="2140254"/>
            <a:ext cx="475488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Arousal changes over seconds, not </a:t>
            </a:r>
            <a:r>
              <a:rPr sz="1400" b="0" dirty="0" err="1">
                <a:solidFill>
                  <a:srgbClr val="333333"/>
                </a:solidFill>
                <a:latin typeface="Cera Pro" panose="00000400000000000000"/>
              </a:rPr>
              <a:t>ms</a:t>
            </a:r>
            <a:endParaRPr sz="1400" b="0" dirty="0">
              <a:solidFill>
                <a:srgbClr val="333333"/>
              </a:solidFill>
              <a:latin typeface="Cera Pro" panose="00000400000000000000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6 rows → stable per-window statistics</a:t>
            </a:r>
          </a:p>
        </p:txBody>
      </p:sp>
      <p:sp>
        <p:nvSpPr>
          <p:cNvPr id="12" name="Rounded Rectangle 94">
            <a:extLst>
              <a:ext uri="{FF2B5EF4-FFF2-40B4-BE49-F238E27FC236}">
                <a16:creationId xmlns:a16="http://schemas.microsoft.com/office/drawing/2014/main" id="{A47691F4-150D-41B8-BDC0-8DAA5953421D}"/>
              </a:ext>
            </a:extLst>
          </p:cNvPr>
          <p:cNvSpPr/>
          <p:nvPr/>
        </p:nvSpPr>
        <p:spPr>
          <a:xfrm>
            <a:off x="6233204" y="1664766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3" name="Rounded Rectangle 95">
            <a:extLst>
              <a:ext uri="{FF2B5EF4-FFF2-40B4-BE49-F238E27FC236}">
                <a16:creationId xmlns:a16="http://schemas.microsoft.com/office/drawing/2014/main" id="{E7DFAD2F-F604-4E79-8CCB-8E8A0A7EB73D}"/>
              </a:ext>
            </a:extLst>
          </p:cNvPr>
          <p:cNvSpPr/>
          <p:nvPr/>
        </p:nvSpPr>
        <p:spPr>
          <a:xfrm>
            <a:off x="6233204" y="1664766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CCE3D3-94DD-45CF-B4DA-4E26A24D2F4D}"/>
              </a:ext>
            </a:extLst>
          </p:cNvPr>
          <p:cNvSpPr txBox="1"/>
          <p:nvPr/>
        </p:nvSpPr>
        <p:spPr>
          <a:xfrm>
            <a:off x="6489236" y="1774494"/>
            <a:ext cx="4800600" cy="2975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600" b="1" dirty="0">
                <a:solidFill>
                  <a:srgbClr val="3C3489"/>
                </a:solidFill>
                <a:latin typeface="Cera Pro" panose="00000400000000000000"/>
              </a:rPr>
              <a:t>Why non-overlapping?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70918F-30C0-47A0-9C10-0B71135C2E2D}"/>
              </a:ext>
            </a:extLst>
          </p:cNvPr>
          <p:cNvSpPr txBox="1"/>
          <p:nvPr/>
        </p:nvSpPr>
        <p:spPr>
          <a:xfrm>
            <a:off x="6489236" y="2140254"/>
            <a:ext cx="475488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No redundant or duplicated rows</a:t>
            </a: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Prevents window-to-window leakage</a:t>
            </a:r>
          </a:p>
        </p:txBody>
      </p:sp>
      <p:sp>
        <p:nvSpPr>
          <p:cNvPr id="16" name="Rounded Rectangle 98">
            <a:extLst>
              <a:ext uri="{FF2B5EF4-FFF2-40B4-BE49-F238E27FC236}">
                <a16:creationId xmlns:a16="http://schemas.microsoft.com/office/drawing/2014/main" id="{12DE0F4F-DD29-4278-8E75-E2A9D0E3FC88}"/>
              </a:ext>
            </a:extLst>
          </p:cNvPr>
          <p:cNvSpPr/>
          <p:nvPr/>
        </p:nvSpPr>
        <p:spPr>
          <a:xfrm>
            <a:off x="701084" y="3155238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7" name="Rounded Rectangle 99">
            <a:extLst>
              <a:ext uri="{FF2B5EF4-FFF2-40B4-BE49-F238E27FC236}">
                <a16:creationId xmlns:a16="http://schemas.microsoft.com/office/drawing/2014/main" id="{3AC94E97-5495-4832-B913-987146D0FCBD}"/>
              </a:ext>
            </a:extLst>
          </p:cNvPr>
          <p:cNvSpPr/>
          <p:nvPr/>
        </p:nvSpPr>
        <p:spPr>
          <a:xfrm>
            <a:off x="701084" y="3155238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EC315D-D92F-485B-B249-A2C2D2F2B031}"/>
              </a:ext>
            </a:extLst>
          </p:cNvPr>
          <p:cNvSpPr txBox="1"/>
          <p:nvPr/>
        </p:nvSpPr>
        <p:spPr>
          <a:xfrm>
            <a:off x="957116" y="3264966"/>
            <a:ext cx="4800600" cy="2975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600" b="1" dirty="0">
                <a:solidFill>
                  <a:srgbClr val="633806"/>
                </a:solidFill>
                <a:latin typeface="Cera Pro" panose="00000400000000000000"/>
              </a:rPr>
              <a:t>Why train-only </a:t>
            </a:r>
            <a:r>
              <a:rPr sz="1600" b="1" dirty="0" err="1">
                <a:solidFill>
                  <a:srgbClr val="633806"/>
                </a:solidFill>
                <a:latin typeface="Cera Pro" panose="00000400000000000000"/>
              </a:rPr>
              <a:t>normalisation</a:t>
            </a:r>
            <a:r>
              <a:rPr sz="1600" b="1" dirty="0">
                <a:solidFill>
                  <a:srgbClr val="633806"/>
                </a:solidFill>
                <a:latin typeface="Cera Pro" panose="00000400000000000000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713FC-EFEC-478B-810E-14D40811E6EA}"/>
              </a:ext>
            </a:extLst>
          </p:cNvPr>
          <p:cNvSpPr txBox="1"/>
          <p:nvPr/>
        </p:nvSpPr>
        <p:spPr>
          <a:xfrm>
            <a:off x="957116" y="3630726"/>
            <a:ext cx="475488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Z-score from train μ, σ only</a:t>
            </a: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Avoids leaking </a:t>
            </a:r>
            <a:r>
              <a:rPr sz="1400" b="0" dirty="0" err="1">
                <a:solidFill>
                  <a:srgbClr val="333333"/>
                </a:solidFill>
                <a:latin typeface="Cera Pro" panose="00000400000000000000"/>
              </a:rPr>
              <a:t>devel</a:t>
            </a: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/test info</a:t>
            </a:r>
          </a:p>
        </p:txBody>
      </p:sp>
      <p:sp>
        <p:nvSpPr>
          <p:cNvPr id="20" name="Rounded Rectangle 102">
            <a:extLst>
              <a:ext uri="{FF2B5EF4-FFF2-40B4-BE49-F238E27FC236}">
                <a16:creationId xmlns:a16="http://schemas.microsoft.com/office/drawing/2014/main" id="{51E32ECD-09D8-4F51-AC02-2CC6C2A8164B}"/>
              </a:ext>
            </a:extLst>
          </p:cNvPr>
          <p:cNvSpPr/>
          <p:nvPr/>
        </p:nvSpPr>
        <p:spPr>
          <a:xfrm>
            <a:off x="6233204" y="3155238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3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21" name="Rounded Rectangle 103">
            <a:extLst>
              <a:ext uri="{FF2B5EF4-FFF2-40B4-BE49-F238E27FC236}">
                <a16:creationId xmlns:a16="http://schemas.microsoft.com/office/drawing/2014/main" id="{EEDCFF15-894F-4B2C-B07B-065074F9D255}"/>
              </a:ext>
            </a:extLst>
          </p:cNvPr>
          <p:cNvSpPr/>
          <p:nvPr/>
        </p:nvSpPr>
        <p:spPr>
          <a:xfrm>
            <a:off x="6233204" y="3155238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ra Pro" panose="0000040000000000000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32568B-C17F-474B-94E7-42B1E87C5AE0}"/>
              </a:ext>
            </a:extLst>
          </p:cNvPr>
          <p:cNvSpPr txBox="1"/>
          <p:nvPr/>
        </p:nvSpPr>
        <p:spPr>
          <a:xfrm>
            <a:off x="6489236" y="3264966"/>
            <a:ext cx="4800600" cy="2975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1600" b="1" dirty="0">
                <a:solidFill>
                  <a:srgbClr val="791F1F"/>
                </a:solidFill>
                <a:latin typeface="Cera Pro" panose="00000400000000000000"/>
              </a:rPr>
              <a:t>Why </a:t>
            </a:r>
            <a:r>
              <a:rPr sz="1600" b="1" dirty="0" err="1">
                <a:solidFill>
                  <a:srgbClr val="791F1F"/>
                </a:solidFill>
                <a:latin typeface="Cera Pro" panose="00000400000000000000"/>
              </a:rPr>
              <a:t>tertile</a:t>
            </a:r>
            <a:r>
              <a:rPr sz="1600" b="1" dirty="0">
                <a:solidFill>
                  <a:srgbClr val="791F1F"/>
                </a:solidFill>
                <a:latin typeface="Cera Pro" panose="00000400000000000000"/>
              </a:rPr>
              <a:t> (not fixed split)?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D45F7-2B29-4964-8F2A-5C5DAE405859}"/>
              </a:ext>
            </a:extLst>
          </p:cNvPr>
          <p:cNvSpPr txBox="1"/>
          <p:nvPr/>
        </p:nvSpPr>
        <p:spPr>
          <a:xfrm>
            <a:off x="6489236" y="3630726"/>
            <a:ext cx="4754880" cy="52065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Labels are continuous &amp; </a:t>
            </a:r>
            <a:r>
              <a:rPr sz="1400" b="0" dirty="0" err="1">
                <a:solidFill>
                  <a:srgbClr val="333333"/>
                </a:solidFill>
                <a:latin typeface="Cera Pro" panose="00000400000000000000"/>
              </a:rPr>
              <a:t>normalised</a:t>
            </a:r>
            <a:endParaRPr sz="1400" b="0" dirty="0">
              <a:solidFill>
                <a:srgbClr val="333333"/>
              </a:solidFill>
              <a:latin typeface="Cera Pro" panose="00000400000000000000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sz="1400" b="0" dirty="0">
                <a:solidFill>
                  <a:srgbClr val="333333"/>
                </a:solidFill>
                <a:latin typeface="Cera Pro" panose="00000400000000000000"/>
              </a:rPr>
              <a:t>Data-driven → ~balanced 3 classes</a:t>
            </a:r>
          </a:p>
        </p:txBody>
      </p:sp>
    </p:spTree>
    <p:extLst>
      <p:ext uri="{BB962C8B-B14F-4D97-AF65-F5344CB8AC3E}">
        <p14:creationId xmlns:p14="http://schemas.microsoft.com/office/powerpoint/2010/main" val="2704957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D31A7C-951B-4EBC-972C-60F47D27A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339817" cy="365125"/>
          </a:xfrm>
        </p:spPr>
        <p:txBody>
          <a:bodyPr/>
          <a:lstStyle/>
          <a:p>
            <a:r>
              <a:rPr lang="en-US" dirty="0">
                <a:latin typeface="Cera Pro" panose="00000400000000000000"/>
              </a:rPr>
              <a:t>DISTILL-Phys | Muhammad Abdullah, </a:t>
            </a:r>
            <a:r>
              <a:rPr lang="en-US" dirty="0" err="1">
                <a:latin typeface="Cera Pro" panose="00000400000000000000"/>
              </a:rPr>
              <a:t>Kainat</a:t>
            </a:r>
            <a:r>
              <a:rPr lang="en-US" dirty="0">
                <a:latin typeface="Cera Pro" panose="00000400000000000000"/>
              </a:rPr>
              <a:t> Arshad, Abdul </a:t>
            </a:r>
            <a:r>
              <a:rPr lang="en-US" dirty="0" err="1">
                <a:latin typeface="Cera Pro" panose="00000400000000000000"/>
              </a:rPr>
              <a:t>Raziq</a:t>
            </a:r>
            <a:endParaRPr lang="en-US" dirty="0">
              <a:latin typeface="Cera Pro" panose="0000040000000000000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7C57A0-76FA-4E59-916F-8543D5C4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ra Pro" panose="00000400000000000000"/>
              </a:rPr>
              <a:t>EDA – Key Findings</a:t>
            </a:r>
            <a:endParaRPr lang="en-PK" dirty="0">
              <a:latin typeface="Cera Pro" panose="0000040000000000000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45D6A-6EE7-42DB-A5E4-9E05CBFD9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082" y="4697643"/>
            <a:ext cx="4757397" cy="110805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333333"/>
                </a:solidFill>
                <a:latin typeface="Cera Pro" panose="00000400000000000000"/>
              </a:rPr>
              <a:t>All |r| ≤ 0.12 → arousal is </a:t>
            </a:r>
            <a:r>
              <a:rPr lang="en-US" sz="1600" b="1" dirty="0">
                <a:solidFill>
                  <a:srgbClr val="333333"/>
                </a:solidFill>
                <a:latin typeface="Cera Pro" panose="00000400000000000000"/>
              </a:rPr>
              <a:t>multivariate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333333"/>
                </a:solidFill>
                <a:latin typeface="Cera Pro" panose="00000400000000000000"/>
              </a:rPr>
              <a:t>No single signal predicts it on its own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8BDCAA-3964-4D08-98AA-8A07D83142A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>
                <a:latin typeface="Cera Pro" panose="00000400000000000000"/>
              </a:rPr>
              <a:pPr/>
              <a:t>6</a:t>
            </a:fld>
            <a:endParaRPr lang="en-US" dirty="0">
              <a:latin typeface="Cera Pro" panose="0000040000000000000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7DF4C1-6EE5-44A2-9CC2-9A868B8A32B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>
                <a:latin typeface="Cera Pro" panose="00000400000000000000"/>
              </a:rPr>
              <a:t>June 16, 2026</a:t>
            </a:fld>
            <a:endParaRPr lang="de-DE" dirty="0">
              <a:latin typeface="Cera Pro" panose="00000400000000000000"/>
            </a:endParaRPr>
          </a:p>
        </p:txBody>
      </p:sp>
      <p:pic>
        <p:nvPicPr>
          <p:cNvPr id="10" name="Picture 9" descr="chart_corr.png">
            <a:extLst>
              <a:ext uri="{FF2B5EF4-FFF2-40B4-BE49-F238E27FC236}">
                <a16:creationId xmlns:a16="http://schemas.microsoft.com/office/drawing/2014/main" id="{A29E2E19-765B-49AF-9B43-D7CCF99F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0" y="1697433"/>
            <a:ext cx="5440680" cy="2840355"/>
          </a:xfrm>
          <a:prstGeom prst="rect">
            <a:avLst/>
          </a:prstGeom>
        </p:spPr>
      </p:pic>
      <p:pic>
        <p:nvPicPr>
          <p:cNvPr id="11" name="Picture 10" descr="chart_balance.png">
            <a:extLst>
              <a:ext uri="{FF2B5EF4-FFF2-40B4-BE49-F238E27FC236}">
                <a16:creationId xmlns:a16="http://schemas.microsoft.com/office/drawing/2014/main" id="{DA3D330F-8778-4A2D-B21E-04B4433D8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101" y="2650574"/>
            <a:ext cx="4206240" cy="2684027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185BB1-2EC4-4E0E-961D-35BBFB5D42FF}"/>
              </a:ext>
            </a:extLst>
          </p:cNvPr>
          <p:cNvSpPr txBox="1">
            <a:spLocks/>
          </p:cNvSpPr>
          <p:nvPr/>
        </p:nvSpPr>
        <p:spPr>
          <a:xfrm>
            <a:off x="6733523" y="5490929"/>
            <a:ext cx="4757397" cy="8585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538163" indent="-27305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1pPr>
            <a:lvl2pPr marL="985838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2pPr>
            <a:lvl3pPr marL="1435100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3pPr>
            <a:lvl4pPr marL="1884363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4pPr>
            <a:lvl5pPr marL="2333625" indent="-2714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68B4"/>
              </a:buClr>
              <a:buSzPct val="90000"/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Cera Pro" panose="000004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333333"/>
                </a:solidFill>
                <a:latin typeface="Cera Pro" panose="00000400000000000000"/>
              </a:rPr>
              <a:t>Label range −0.75 to +0.94; test labels withheld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333333"/>
                </a:solidFill>
                <a:latin typeface="Cera Pro" panose="00000400000000000000"/>
              </a:rPr>
              <a:t>KS test: train ≈ </a:t>
            </a:r>
            <a:r>
              <a:rPr lang="en-US" sz="1600" b="0" dirty="0" err="1">
                <a:solidFill>
                  <a:srgbClr val="333333"/>
                </a:solidFill>
                <a:latin typeface="Cera Pro" panose="00000400000000000000"/>
              </a:rPr>
              <a:t>devel</a:t>
            </a:r>
            <a:r>
              <a:rPr lang="en-US" sz="1600" b="0" dirty="0">
                <a:solidFill>
                  <a:srgbClr val="333333"/>
                </a:solidFill>
                <a:latin typeface="Cera Pro" panose="00000400000000000000"/>
              </a:rPr>
              <a:t>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87096-30B0-4C01-9A49-10E8072965E1}"/>
              </a:ext>
            </a:extLst>
          </p:cNvPr>
          <p:cNvSpPr txBox="1"/>
          <p:nvPr/>
        </p:nvSpPr>
        <p:spPr>
          <a:xfrm>
            <a:off x="6733523" y="1313085"/>
            <a:ext cx="4846320" cy="4206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r>
              <a:rPr sz="2400" b="1" dirty="0">
                <a:solidFill>
                  <a:srgbClr val="0069B3"/>
                </a:solidFill>
                <a:latin typeface="Cera Pro" panose="00000400000000000000"/>
              </a:rPr>
              <a:t>DATA QUALITY</a:t>
            </a:r>
          </a:p>
        </p:txBody>
      </p:sp>
      <p:sp>
        <p:nvSpPr>
          <p:cNvPr id="14" name="Rounded Rectangle 96">
            <a:extLst>
              <a:ext uri="{FF2B5EF4-FFF2-40B4-BE49-F238E27FC236}">
                <a16:creationId xmlns:a16="http://schemas.microsoft.com/office/drawing/2014/main" id="{0357F3F3-A43A-42AF-B5C3-FF13C8720331}"/>
              </a:ext>
            </a:extLst>
          </p:cNvPr>
          <p:cNvSpPr/>
          <p:nvPr/>
        </p:nvSpPr>
        <p:spPr>
          <a:xfrm>
            <a:off x="6733523" y="1781014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&lt; 2%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windows |z| &gt; 3 (outliers)</a:t>
            </a:r>
          </a:p>
        </p:txBody>
      </p:sp>
      <p:sp>
        <p:nvSpPr>
          <p:cNvPr id="15" name="Rounded Rectangle 97">
            <a:extLst>
              <a:ext uri="{FF2B5EF4-FFF2-40B4-BE49-F238E27FC236}">
                <a16:creationId xmlns:a16="http://schemas.microsoft.com/office/drawing/2014/main" id="{0AF6A318-D98B-42F9-8CCE-4C315C7A4096}"/>
              </a:ext>
            </a:extLst>
          </p:cNvPr>
          <p:cNvSpPr/>
          <p:nvPr/>
        </p:nvSpPr>
        <p:spPr>
          <a:xfrm>
            <a:off x="9156683" y="1781014"/>
            <a:ext cx="2331720" cy="713232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0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missing values</a:t>
            </a:r>
          </a:p>
        </p:txBody>
      </p:sp>
    </p:spTree>
    <p:extLst>
      <p:ext uri="{BB962C8B-B14F-4D97-AF65-F5344CB8AC3E}">
        <p14:creationId xmlns:p14="http://schemas.microsoft.com/office/powerpoint/2010/main" val="325473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6454CD-0EF1-40FC-846F-B8A7B033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120640" cy="365125"/>
          </a:xfrm>
        </p:spPr>
        <p:txBody>
          <a:bodyPr/>
          <a:lstStyle/>
          <a:p>
            <a:r>
              <a:rPr lang="en-US" dirty="0">
                <a:latin typeface="Cera Pro" panose="00000400000000000000"/>
              </a:rPr>
              <a:t>DISTILL-Phys | Muhammad Abdullah, </a:t>
            </a:r>
            <a:r>
              <a:rPr lang="en-US" dirty="0" err="1">
                <a:latin typeface="Cera Pro" panose="00000400000000000000"/>
              </a:rPr>
              <a:t>Kainat</a:t>
            </a:r>
            <a:r>
              <a:rPr lang="en-US" dirty="0">
                <a:latin typeface="Cera Pro" panose="00000400000000000000"/>
              </a:rPr>
              <a:t> Arshad, Abdul </a:t>
            </a:r>
            <a:r>
              <a:rPr lang="en-US" dirty="0" err="1">
                <a:latin typeface="Cera Pro" panose="00000400000000000000"/>
              </a:rPr>
              <a:t>Raziq</a:t>
            </a:r>
            <a:endParaRPr lang="en-US" dirty="0">
              <a:latin typeface="Cera Pro" panose="0000040000000000000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E24808-C6F8-4122-B40F-AE0E73CF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3452107" cy="502465"/>
          </a:xfrm>
        </p:spPr>
        <p:txBody>
          <a:bodyPr>
            <a:normAutofit/>
          </a:bodyPr>
          <a:lstStyle/>
          <a:p>
            <a:r>
              <a:rPr lang="en-US" dirty="0">
                <a:latin typeface="Cera Pro" panose="00000400000000000000"/>
              </a:rPr>
              <a:t>Output Dataset schema</a:t>
            </a:r>
            <a:endParaRPr lang="en-PK" dirty="0">
              <a:latin typeface="Cera Pro" panose="0000040000000000000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31A95-F873-4673-8747-C06F9312255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>
                <a:latin typeface="Cera Pro" panose="00000400000000000000"/>
              </a:rPr>
              <a:pPr/>
              <a:t>7</a:t>
            </a:fld>
            <a:endParaRPr lang="en-US" dirty="0">
              <a:latin typeface="Cera Pro" panose="0000040000000000000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07B0CB2-56C6-4E53-B26D-7CB9D4DEF3C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>
                <a:latin typeface="Cera Pro" panose="00000400000000000000"/>
              </a:rPr>
              <a:t>June 16, 2026</a:t>
            </a:fld>
            <a:endParaRPr lang="de-DE" dirty="0">
              <a:latin typeface="Cera Pro" panose="00000400000000000000"/>
            </a:endParaRPr>
          </a:p>
        </p:txBody>
      </p:sp>
      <p:sp>
        <p:nvSpPr>
          <p:cNvPr id="7" name="Rounded Rectangle 91">
            <a:extLst>
              <a:ext uri="{FF2B5EF4-FFF2-40B4-BE49-F238E27FC236}">
                <a16:creationId xmlns:a16="http://schemas.microsoft.com/office/drawing/2014/main" id="{2309D4C0-2AEC-4C49-AD4C-BC37F71AC327}"/>
              </a:ext>
            </a:extLst>
          </p:cNvPr>
          <p:cNvSpPr/>
          <p:nvPr/>
        </p:nvSpPr>
        <p:spPr>
          <a:xfrm>
            <a:off x="3558970" y="1768422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635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bIns="12700" rtlCol="0" anchor="ctr"/>
          <a:lstStyle/>
          <a:p>
            <a:pPr algn="ctr"/>
            <a:r>
              <a:rPr sz="1050" b="1">
                <a:solidFill>
                  <a:srgbClr val="0C447C"/>
                </a:solidFill>
                <a:latin typeface="Cera Pro" panose="00000400000000000000"/>
              </a:rPr>
              <a:t>Identifiers (4)</a:t>
            </a:r>
          </a:p>
          <a:p>
            <a:r>
              <a:rPr sz="850">
                <a:solidFill>
                  <a:srgbClr val="0C447C"/>
                </a:solidFill>
                <a:latin typeface="Cera Pro" panose="00000400000000000000"/>
              </a:rPr>
              <a:t>subject_id · window_id · start/end_timestamp</a:t>
            </a:r>
          </a:p>
        </p:txBody>
      </p:sp>
      <p:sp>
        <p:nvSpPr>
          <p:cNvPr id="8" name="Rounded Rectangle 92">
            <a:extLst>
              <a:ext uri="{FF2B5EF4-FFF2-40B4-BE49-F238E27FC236}">
                <a16:creationId xmlns:a16="http://schemas.microsoft.com/office/drawing/2014/main" id="{6E7495FA-88D0-42EB-A498-F973E41A264B}"/>
              </a:ext>
            </a:extLst>
          </p:cNvPr>
          <p:cNvSpPr/>
          <p:nvPr/>
        </p:nvSpPr>
        <p:spPr>
          <a:xfrm>
            <a:off x="3558970" y="2426790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EEEDFE"/>
          </a:solidFill>
          <a:ln w="635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bIns="12700" rtlCol="0" anchor="ctr"/>
          <a:lstStyle/>
          <a:p>
            <a:pPr algn="ctr"/>
            <a:r>
              <a:rPr sz="1050" b="1">
                <a:solidFill>
                  <a:srgbClr val="3C3489"/>
                </a:solidFill>
                <a:latin typeface="Cera Pro" panose="00000400000000000000"/>
              </a:rPr>
              <a:t>Raw features (9)</a:t>
            </a:r>
          </a:p>
          <a:p>
            <a:r>
              <a:rPr sz="850">
                <a:solidFill>
                  <a:srgbClr val="3C3489"/>
                </a:solidFill>
                <a:latin typeface="Cera Pro" panose="00000400000000000000"/>
              </a:rPr>
              <a:t>BPM/ECG/resp × mean/median/mode</a:t>
            </a:r>
          </a:p>
        </p:txBody>
      </p:sp>
      <p:sp>
        <p:nvSpPr>
          <p:cNvPr id="9" name="Rounded Rectangle 93">
            <a:extLst>
              <a:ext uri="{FF2B5EF4-FFF2-40B4-BE49-F238E27FC236}">
                <a16:creationId xmlns:a16="http://schemas.microsoft.com/office/drawing/2014/main" id="{3BA2C826-64A0-4CE6-B05A-C5284E313F9E}"/>
              </a:ext>
            </a:extLst>
          </p:cNvPr>
          <p:cNvSpPr/>
          <p:nvPr/>
        </p:nvSpPr>
        <p:spPr>
          <a:xfrm>
            <a:off x="3558970" y="3085158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E1F5EE"/>
          </a:solidFill>
          <a:ln w="635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bIns="12700" rtlCol="0" anchor="ctr"/>
          <a:lstStyle/>
          <a:p>
            <a:pPr algn="ctr"/>
            <a:r>
              <a:rPr sz="1050" b="1">
                <a:solidFill>
                  <a:srgbClr val="085041"/>
                </a:solidFill>
                <a:latin typeface="Cera Pro" panose="00000400000000000000"/>
              </a:rPr>
              <a:t>Normalised features (9)</a:t>
            </a:r>
          </a:p>
          <a:p>
            <a:r>
              <a:rPr sz="850">
                <a:solidFill>
                  <a:srgbClr val="085041"/>
                </a:solidFill>
                <a:latin typeface="Cera Pro" panose="00000400000000000000"/>
              </a:rPr>
              <a:t>same columns, _norm suffix (Z-score)</a:t>
            </a:r>
          </a:p>
        </p:txBody>
      </p:sp>
      <p:sp>
        <p:nvSpPr>
          <p:cNvPr id="10" name="Rounded Rectangle 94">
            <a:extLst>
              <a:ext uri="{FF2B5EF4-FFF2-40B4-BE49-F238E27FC236}">
                <a16:creationId xmlns:a16="http://schemas.microsoft.com/office/drawing/2014/main" id="{67473AA4-BC29-406C-9E56-779002BCDD89}"/>
              </a:ext>
            </a:extLst>
          </p:cNvPr>
          <p:cNvSpPr/>
          <p:nvPr/>
        </p:nvSpPr>
        <p:spPr>
          <a:xfrm>
            <a:off x="3558970" y="3743526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bIns="12700" rtlCol="0" anchor="ctr"/>
          <a:lstStyle/>
          <a:p>
            <a:pPr algn="ctr"/>
            <a:r>
              <a:rPr sz="1050" b="1">
                <a:solidFill>
                  <a:srgbClr val="633806"/>
                </a:solidFill>
                <a:latin typeface="Cera Pro" panose="00000400000000000000"/>
              </a:rPr>
              <a:t>Labels (3)</a:t>
            </a:r>
          </a:p>
          <a:p>
            <a:r>
              <a:rPr sz="850">
                <a:solidFill>
                  <a:srgbClr val="633806"/>
                </a:solidFill>
                <a:latin typeface="Cera Pro" panose="00000400000000000000"/>
              </a:rPr>
              <a:t>label_mean / median / mode</a:t>
            </a:r>
          </a:p>
        </p:txBody>
      </p:sp>
      <p:sp>
        <p:nvSpPr>
          <p:cNvPr id="11" name="Rounded Rectangle 95">
            <a:extLst>
              <a:ext uri="{FF2B5EF4-FFF2-40B4-BE49-F238E27FC236}">
                <a16:creationId xmlns:a16="http://schemas.microsoft.com/office/drawing/2014/main" id="{B3831DD3-ADE9-4215-BFD4-5D2BE7CB98A3}"/>
              </a:ext>
            </a:extLst>
          </p:cNvPr>
          <p:cNvSpPr/>
          <p:nvPr/>
        </p:nvSpPr>
        <p:spPr>
          <a:xfrm>
            <a:off x="3558970" y="4401894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6350">
            <a:solidFill>
              <a:srgbClr val="A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2700" bIns="12700" rtlCol="0" anchor="ctr"/>
          <a:lstStyle/>
          <a:p>
            <a:pPr algn="ctr"/>
            <a:r>
              <a:rPr sz="1050" b="1">
                <a:solidFill>
                  <a:srgbClr val="791F1F"/>
                </a:solidFill>
                <a:latin typeface="Cera Pro" panose="00000400000000000000"/>
              </a:rPr>
              <a:t>Classes (3)</a:t>
            </a:r>
          </a:p>
          <a:p>
            <a:r>
              <a:rPr sz="850">
                <a:solidFill>
                  <a:srgbClr val="791F1F"/>
                </a:solidFill>
                <a:latin typeface="Cera Pro" panose="00000400000000000000"/>
              </a:rPr>
              <a:t>class_mean / median / mode</a:t>
            </a:r>
          </a:p>
        </p:txBody>
      </p:sp>
      <p:sp>
        <p:nvSpPr>
          <p:cNvPr id="12" name="Rounded Rectangle 96">
            <a:extLst>
              <a:ext uri="{FF2B5EF4-FFF2-40B4-BE49-F238E27FC236}">
                <a16:creationId xmlns:a16="http://schemas.microsoft.com/office/drawing/2014/main" id="{789F35E7-E331-47F7-8A1C-ADA99F560ECC}"/>
              </a:ext>
            </a:extLst>
          </p:cNvPr>
          <p:cNvSpPr/>
          <p:nvPr/>
        </p:nvSpPr>
        <p:spPr>
          <a:xfrm>
            <a:off x="3558970" y="5243142"/>
            <a:ext cx="1627632" cy="64008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4,105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Train</a:t>
            </a:r>
          </a:p>
        </p:txBody>
      </p:sp>
      <p:sp>
        <p:nvSpPr>
          <p:cNvPr id="13" name="Rounded Rectangle 97">
            <a:extLst>
              <a:ext uri="{FF2B5EF4-FFF2-40B4-BE49-F238E27FC236}">
                <a16:creationId xmlns:a16="http://schemas.microsoft.com/office/drawing/2014/main" id="{3D5275F9-0174-4076-AAE5-DD9BE3A164E7}"/>
              </a:ext>
            </a:extLst>
          </p:cNvPr>
          <p:cNvSpPr/>
          <p:nvPr/>
        </p:nvSpPr>
        <p:spPr>
          <a:xfrm>
            <a:off x="5278042" y="5243142"/>
            <a:ext cx="1627632" cy="64008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1,413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Devel</a:t>
            </a:r>
          </a:p>
        </p:txBody>
      </p:sp>
      <p:sp>
        <p:nvSpPr>
          <p:cNvPr id="14" name="Rounded Rectangle 98">
            <a:extLst>
              <a:ext uri="{FF2B5EF4-FFF2-40B4-BE49-F238E27FC236}">
                <a16:creationId xmlns:a16="http://schemas.microsoft.com/office/drawing/2014/main" id="{03102FB1-3ABB-416D-A98E-5A2275B9B7DA}"/>
              </a:ext>
            </a:extLst>
          </p:cNvPr>
          <p:cNvSpPr/>
          <p:nvPr/>
        </p:nvSpPr>
        <p:spPr>
          <a:xfrm>
            <a:off x="6997114" y="5243142"/>
            <a:ext cx="1682496" cy="640080"/>
          </a:xfrm>
          <a:prstGeom prst="roundRect">
            <a:avLst>
              <a:gd name="adj" fmla="val 6000"/>
            </a:avLst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800" b="1">
                <a:solidFill>
                  <a:srgbClr val="0C447C"/>
                </a:solidFill>
                <a:latin typeface="Cera Pro" panose="00000400000000000000"/>
              </a:rPr>
              <a:t>1,408</a:t>
            </a:r>
          </a:p>
          <a:p>
            <a:pPr algn="ctr"/>
            <a:r>
              <a:rPr sz="900">
                <a:solidFill>
                  <a:srgbClr val="666666"/>
                </a:solidFill>
                <a:latin typeface="Cera Pro" panose="0000040000000000000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3971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787851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5647E-E788-2876-86E6-1A266532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3490983" cy="502465"/>
          </a:xfrm>
        </p:spPr>
        <p:txBody>
          <a:bodyPr>
            <a:normAutofit/>
          </a:bodyPr>
          <a:lstStyle/>
          <a:p>
            <a:r>
              <a:rPr lang="de-DE" dirty="0"/>
              <a:t>Input Representation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014F33C-904B-489B-AF7D-C3426CF835AE}" type="datetime4">
              <a:rPr lang="en-US" smtClean="0"/>
              <a:t>June 16, 2026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1517E-B411-4949-87D6-AA797AEB2555}"/>
              </a:ext>
            </a:extLst>
          </p:cNvPr>
          <p:cNvSpPr txBox="1"/>
          <p:nvPr/>
        </p:nvSpPr>
        <p:spPr>
          <a:xfrm>
            <a:off x="10700540" y="5914458"/>
            <a:ext cx="1346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Generated with </a:t>
            </a:r>
            <a:r>
              <a:rPr lang="en-US" sz="1000" dirty="0" err="1"/>
              <a:t>GenAI</a:t>
            </a:r>
            <a:endParaRPr lang="en-PK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5471BB-CD4F-4100-93E0-AB73EEADD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7" y="1661688"/>
            <a:ext cx="10269383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53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516545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2472EA0-51B4-4866-9D31-F585818720A2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FEE96B-6F76-4D0F-A442-B8BDBE36E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240" y="892241"/>
            <a:ext cx="8971517" cy="55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367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197082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5647E-E788-2876-86E6-1A266532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3490983" cy="502465"/>
          </a:xfrm>
        </p:spPr>
        <p:txBody>
          <a:bodyPr>
            <a:normAutofit/>
          </a:bodyPr>
          <a:lstStyle/>
          <a:p>
            <a:r>
              <a:rPr lang="de-DE" dirty="0"/>
              <a:t>Teacher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79828-65C3-1B43-F4C1-1AD22CE56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082" y="1629841"/>
            <a:ext cx="4424001" cy="41758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Full modality transformer model: BPM, ECG and Resp</a:t>
            </a:r>
          </a:p>
          <a:p>
            <a:r>
              <a:rPr lang="en-US" dirty="0"/>
              <a:t>Physiological meaning dependent on temporal context. E.g. a single BPM value may not mean much alone, but a rising or falling trend over time can be informative.</a:t>
            </a:r>
          </a:p>
          <a:p>
            <a:r>
              <a:rPr lang="en-US" dirty="0"/>
              <a:t>The teacher learns both temporal patterns across windows and cross-modal relationships between signals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891F3A-8B13-431F-9EC0-E0FFCE5F3ED7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E937F7-335E-41CF-B8E7-C13A6DAF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97" y="1329381"/>
            <a:ext cx="5738710" cy="454858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3107331-E6BA-439D-9B98-1467AAE515E4}"/>
              </a:ext>
            </a:extLst>
          </p:cNvPr>
          <p:cNvSpPr txBox="1"/>
          <p:nvPr/>
        </p:nvSpPr>
        <p:spPr>
          <a:xfrm>
            <a:off x="10700540" y="5914458"/>
            <a:ext cx="1346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Generated with </a:t>
            </a:r>
            <a:r>
              <a:rPr lang="en-US" sz="1000" dirty="0" err="1"/>
              <a:t>GenAI</a:t>
            </a:r>
            <a:endParaRPr lang="en-PK" sz="1000" dirty="0"/>
          </a:p>
        </p:txBody>
      </p:sp>
    </p:spTree>
    <p:extLst>
      <p:ext uri="{BB962C8B-B14F-4D97-AF65-F5344CB8AC3E}">
        <p14:creationId xmlns:p14="http://schemas.microsoft.com/office/powerpoint/2010/main" val="304429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496448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5647E-E788-2876-86E6-1A266532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3490983" cy="502465"/>
          </a:xfrm>
        </p:spPr>
        <p:txBody>
          <a:bodyPr>
            <a:normAutofit/>
          </a:bodyPr>
          <a:lstStyle/>
          <a:p>
            <a:r>
              <a:rPr lang="de-DE" dirty="0"/>
              <a:t>Student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79828-65C3-1B43-F4C1-1AD22CE56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082" y="1629841"/>
            <a:ext cx="4494675" cy="4175854"/>
          </a:xfrm>
        </p:spPr>
        <p:txBody>
          <a:bodyPr/>
          <a:lstStyle/>
          <a:p>
            <a:r>
              <a:rPr lang="en-US" dirty="0"/>
              <a:t>Same general architecture pattern as the teacher, but smaller</a:t>
            </a:r>
          </a:p>
          <a:p>
            <a:r>
              <a:rPr lang="en-US" dirty="0"/>
              <a:t>Makes teacher-student alignment easier during distillation.</a:t>
            </a:r>
          </a:p>
          <a:p>
            <a:r>
              <a:rPr lang="en-US" dirty="0"/>
              <a:t>The student is designed to be more efficient while still trying to retain most of the teacher’s performance.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44F3EDA-C731-421E-B1E9-4BDE919DF0A0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2ED6FA-CB8D-4B73-8B8E-CFE6393B0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28" y="1790269"/>
            <a:ext cx="5674555" cy="31966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2D8337D-F1E8-4D10-84C6-374B37850934}"/>
              </a:ext>
            </a:extLst>
          </p:cNvPr>
          <p:cNvSpPr txBox="1"/>
          <p:nvPr/>
        </p:nvSpPr>
        <p:spPr>
          <a:xfrm>
            <a:off x="10700540" y="5914458"/>
            <a:ext cx="1346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Generated with </a:t>
            </a:r>
            <a:r>
              <a:rPr lang="en-US" sz="1000" dirty="0" err="1"/>
              <a:t>GenAI</a:t>
            </a:r>
            <a:endParaRPr lang="en-PK" sz="1000" dirty="0"/>
          </a:p>
        </p:txBody>
      </p:sp>
    </p:spTree>
    <p:extLst>
      <p:ext uri="{BB962C8B-B14F-4D97-AF65-F5344CB8AC3E}">
        <p14:creationId xmlns:p14="http://schemas.microsoft.com/office/powerpoint/2010/main" val="225641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FF8B9-0171-B144-87D1-BEDA68D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197082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65647E-E788-2876-86E6-1A266532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4449818" cy="502465"/>
          </a:xfrm>
        </p:spPr>
        <p:txBody>
          <a:bodyPr>
            <a:normAutofit/>
          </a:bodyPr>
          <a:lstStyle/>
          <a:p>
            <a:r>
              <a:rPr lang="de-DE" dirty="0"/>
              <a:t>Missing Modality Student Training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79828-65C3-1B43-F4C1-1AD22CE56B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083" y="1629841"/>
            <a:ext cx="9917756" cy="4175854"/>
          </a:xfrm>
        </p:spPr>
        <p:txBody>
          <a:bodyPr/>
          <a:lstStyle/>
          <a:p>
            <a:r>
              <a:rPr lang="en-US" dirty="0"/>
              <a:t>To simulate real-world physiological sensing: different modality combinations.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612F-84E6-6AC5-99B1-C849CD42A5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3B74D80-A55F-AD1D-6D6D-C50BBCBC10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80A1033-2B52-4C71-8828-472A9FDC84E4}" type="datetime4">
              <a:rPr lang="en-US" smtClean="0"/>
              <a:t>June 16, 2026</a:t>
            </a:fld>
            <a:endParaRPr lang="de-DE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D5B9DF-B928-4E13-A04A-658998CBA7FA}"/>
              </a:ext>
            </a:extLst>
          </p:cNvPr>
          <p:cNvSpPr txBox="1"/>
          <p:nvPr/>
        </p:nvSpPr>
        <p:spPr>
          <a:xfrm>
            <a:off x="10700540" y="5914458"/>
            <a:ext cx="1346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Generated with </a:t>
            </a:r>
            <a:r>
              <a:rPr lang="en-US" sz="1000" dirty="0" err="1"/>
              <a:t>GenAI</a:t>
            </a:r>
            <a:endParaRPr lang="en-PK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0E089E-5E06-4AD6-93AB-094B5C02B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024" y="2147499"/>
            <a:ext cx="7711949" cy="43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9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BC7628-CF3C-44FC-91F8-950BF83B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345723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6EAA2-76E3-4D08-A355-2ED2577C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4" y="1078149"/>
            <a:ext cx="4455378" cy="502465"/>
          </a:xfrm>
        </p:spPr>
        <p:txBody>
          <a:bodyPr/>
          <a:lstStyle/>
          <a:p>
            <a:r>
              <a:rPr lang="en-US" dirty="0"/>
              <a:t>Knowledge Distillation - Setup</a:t>
            </a:r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5002F-BE8C-4277-B527-0212FF063E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Knowledge transfer from teacher (larger model) to student (smaller model).</a:t>
            </a:r>
          </a:p>
          <a:p>
            <a:r>
              <a:rPr lang="en-US" dirty="0"/>
              <a:t>Using offline distillation and response based KD: </a:t>
            </a:r>
          </a:p>
          <a:p>
            <a:pPr lvl="1"/>
            <a:r>
              <a:rPr lang="en-US" dirty="0"/>
              <a:t>1. Train full-modality teacher.</a:t>
            </a:r>
          </a:p>
          <a:p>
            <a:pPr lvl="1"/>
            <a:r>
              <a:rPr lang="en-US" dirty="0"/>
              <a:t>2. Train smaller student using:</a:t>
            </a:r>
          </a:p>
          <a:p>
            <a:pPr lvl="2"/>
            <a:r>
              <a:rPr lang="en-US" dirty="0"/>
              <a:t>   - hard labels</a:t>
            </a:r>
          </a:p>
          <a:p>
            <a:pPr lvl="2"/>
            <a:r>
              <a:rPr lang="en-US" dirty="0"/>
              <a:t>   - teacher soft logits/probabilities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8B9ED-DC22-4ACE-A03D-F70835F3A6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2EB906-39F8-4F1A-A398-986623A70C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5D66BD4-8814-438C-A1A0-F5D8F22F93B5}" type="datetime4">
              <a:rPr lang="en-US" smtClean="0"/>
              <a:t>June 16, 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5749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BC7628-CF3C-44FC-91F8-950BF83B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262"/>
            <a:ext cx="5345723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36EAA2-76E3-4D08-A355-2ED2577C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4" y="1078149"/>
            <a:ext cx="5394916" cy="502465"/>
          </a:xfrm>
        </p:spPr>
        <p:txBody>
          <a:bodyPr>
            <a:normAutofit/>
          </a:bodyPr>
          <a:lstStyle/>
          <a:p>
            <a:r>
              <a:rPr lang="en-US" dirty="0"/>
              <a:t>Knowledge Distillation – Algorithm choice</a:t>
            </a:r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5002F-BE8C-4277-B527-0212FF063E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Hinton-style temperature scaled soft label distillation : using KL divergence between teacher and student softened probabilities.</a:t>
            </a:r>
          </a:p>
          <a:p>
            <a:r>
              <a:rPr lang="en-US" dirty="0"/>
              <a:t>Algorithm:</a:t>
            </a:r>
          </a:p>
          <a:p>
            <a:pPr lvl="1"/>
            <a:r>
              <a:rPr lang="en-US" dirty="0"/>
              <a:t>Train teacher, then freeze it.</a:t>
            </a:r>
          </a:p>
          <a:p>
            <a:pPr lvl="1"/>
            <a:r>
              <a:rPr lang="en-US" dirty="0"/>
              <a:t>Student receives full or masked modalities.</a:t>
            </a:r>
          </a:p>
          <a:p>
            <a:pPr lvl="1"/>
            <a:r>
              <a:rPr lang="en-US" dirty="0"/>
              <a:t>Compute: teacher logits and student logits.</a:t>
            </a:r>
          </a:p>
          <a:p>
            <a:pPr lvl="1"/>
            <a:r>
              <a:rPr lang="en-US" dirty="0"/>
              <a:t>Train student with: hard-label loss + soft-label distillation loss</a:t>
            </a:r>
          </a:p>
          <a:p>
            <a:pPr lvl="1"/>
            <a:r>
              <a:rPr lang="en-US" dirty="0"/>
              <a:t>Why?: classification task → KL over class probabilities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8B9ED-DC22-4ACE-A03D-F70835F3A6A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2EB906-39F8-4F1A-A398-986623A70C5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5D66BD4-8814-438C-A1A0-F5D8F22F93B5}" type="datetime4">
              <a:rPr lang="en-US" smtClean="0"/>
              <a:t>June 16, 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6314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D4B8FF-2460-4368-A6C0-D0552526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DISTILL-Phys | Muhammad Abdullah, Kainat Arshad, Abdul 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D00AAD-D142-408C-9494-5C1640EA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5795969" cy="502465"/>
          </a:xfrm>
        </p:spPr>
        <p:txBody>
          <a:bodyPr/>
          <a:lstStyle/>
          <a:p>
            <a:r>
              <a:rPr lang="en-US" dirty="0"/>
              <a:t>Loss function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2A7D4-A1D1-4F8E-A2A4-76E618A975E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AFE48C-C92E-400B-8397-A4AB17DD0E7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F2DE36C-AE7C-4586-8857-7FBED5011968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6A5694-1E6C-4724-B4AC-3CA7AC8D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82" y="2495175"/>
            <a:ext cx="5394917" cy="1867649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195EAE-7684-41CA-8DCE-00CC6999D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089071"/>
              </p:ext>
            </p:extLst>
          </p:nvPr>
        </p:nvGraphicFramePr>
        <p:xfrm>
          <a:off x="6534529" y="1584480"/>
          <a:ext cx="5204179" cy="4394999"/>
        </p:xfrm>
        <a:graphic>
          <a:graphicData uri="http://schemas.openxmlformats.org/drawingml/2006/table">
            <a:tbl>
              <a:tblPr/>
              <a:tblGrid>
                <a:gridCol w="1416680">
                  <a:extLst>
                    <a:ext uri="{9D8B030D-6E8A-4147-A177-3AD203B41FA5}">
                      <a16:colId xmlns:a16="http://schemas.microsoft.com/office/drawing/2014/main" val="1216568954"/>
                    </a:ext>
                  </a:extLst>
                </a:gridCol>
                <a:gridCol w="3787499">
                  <a:extLst>
                    <a:ext uri="{9D8B030D-6E8A-4147-A177-3AD203B41FA5}">
                      <a16:colId xmlns:a16="http://schemas.microsoft.com/office/drawing/2014/main" val="3800866418"/>
                    </a:ext>
                  </a:extLst>
                </a:gridCol>
              </a:tblGrid>
              <a:tr h="264616">
                <a:tc>
                  <a:txBody>
                    <a:bodyPr/>
                    <a:lstStyle/>
                    <a:p>
                      <a:r>
                        <a:rPr lang="en-US" sz="1800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304313"/>
                  </a:ext>
                </a:extLst>
              </a:tr>
              <a:tr h="264616">
                <a:tc>
                  <a:txBody>
                    <a:bodyPr/>
                    <a:lstStyle/>
                    <a:p>
                      <a:r>
                        <a:rPr lang="en-US" sz="1800" dirty="0" err="1"/>
                        <a:t>Lstudent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Final loss used to train the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524024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Cross-entropy loss: teaches the student the true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546094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True class label: Low, Medium, or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284427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KL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KL divergence: teaches the student to match the teacher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06436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Controls balance between true labels and teacher guidance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62342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Temperature: softens teacher/student probabilities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791679"/>
                  </a:ext>
                </a:extLst>
              </a:tr>
              <a:tr h="463079">
                <a:tc>
                  <a:txBody>
                    <a:bodyPr/>
                    <a:lstStyle/>
                    <a:p>
                      <a:r>
                        <a:rPr lang="en-US" sz="1800" dirty="0"/>
                        <a:t>T^2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Keeps the KD loss scale stable when using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702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939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414582-CEC2-4191-A6EA-D6CC9D3F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262"/>
            <a:ext cx="5354424" cy="365125"/>
          </a:xfrm>
        </p:spPr>
        <p:txBody>
          <a:bodyPr/>
          <a:lstStyle/>
          <a:p>
            <a:r>
              <a:rPr lang="en-US" dirty="0"/>
              <a:t>DISTILL-Phys | Muhammad Abdullah, </a:t>
            </a:r>
            <a:r>
              <a:rPr lang="en-US" dirty="0" err="1"/>
              <a:t>Kainat</a:t>
            </a:r>
            <a:r>
              <a:rPr lang="en-US" dirty="0"/>
              <a:t> Arshad, Abdul </a:t>
            </a:r>
            <a:r>
              <a:rPr lang="en-US" dirty="0" err="1"/>
              <a:t>Raziq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156E48-9BB0-463D-8F96-1C75ED36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83" y="1078149"/>
            <a:ext cx="4653341" cy="502465"/>
          </a:xfrm>
        </p:spPr>
        <p:txBody>
          <a:bodyPr/>
          <a:lstStyle/>
          <a:p>
            <a:r>
              <a:rPr lang="en-US" dirty="0"/>
              <a:t>Evaluation Plan</a:t>
            </a:r>
            <a:endParaRPr lang="en-P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7E5FA-B6AD-4834-8CD5-0EBF0412E04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04DCD0C-D34E-48D2-8D5E-B00D274E348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7291B7-8BC0-49EE-8BD8-BB17A5B07D4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91575CB-0A49-4C9F-9B1F-A2B7675A3123}" type="datetime4">
              <a:rPr lang="en-US" smtClean="0"/>
              <a:t>June 16, 2026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2E6B9-A13A-471E-83E2-F6529A2A9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771" y="1608591"/>
            <a:ext cx="7318455" cy="4870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164EE5-461D-484B-B902-42CE6041C0FD}"/>
              </a:ext>
            </a:extLst>
          </p:cNvPr>
          <p:cNvSpPr txBox="1"/>
          <p:nvPr/>
        </p:nvSpPr>
        <p:spPr>
          <a:xfrm>
            <a:off x="10700540" y="5914458"/>
            <a:ext cx="1346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Generated with </a:t>
            </a:r>
            <a:r>
              <a:rPr lang="en-US" sz="1000" dirty="0" err="1"/>
              <a:t>GenAI</a:t>
            </a:r>
            <a:endParaRPr lang="en-PK" sz="1000" dirty="0"/>
          </a:p>
        </p:txBody>
      </p:sp>
    </p:spTree>
    <p:extLst>
      <p:ext uri="{BB962C8B-B14F-4D97-AF65-F5344CB8AC3E}">
        <p14:creationId xmlns:p14="http://schemas.microsoft.com/office/powerpoint/2010/main" val="1458663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26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927</Words>
  <Application>Microsoft Office PowerPoint</Application>
  <PresentationFormat>Widescreen</PresentationFormat>
  <Paragraphs>193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Cera Pro</vt:lpstr>
      <vt:lpstr>Lucida Grande CY</vt:lpstr>
      <vt:lpstr>Open Sans</vt:lpstr>
      <vt:lpstr>Wingdings</vt:lpstr>
      <vt:lpstr>Office</vt:lpstr>
      <vt:lpstr>Distill-Phys: Knowledge Distillation for Robust Physiological Affect Recognition</vt:lpstr>
      <vt:lpstr>Project Motivation</vt:lpstr>
      <vt:lpstr>Data Preprocessing</vt:lpstr>
      <vt:lpstr>Pre-processing pipeline</vt:lpstr>
      <vt:lpstr>Design Decisions</vt:lpstr>
      <vt:lpstr>EDA – Key Findings</vt:lpstr>
      <vt:lpstr>Output Dataset schema</vt:lpstr>
      <vt:lpstr>Input Representation</vt:lpstr>
      <vt:lpstr>PowerPoint Presentation</vt:lpstr>
      <vt:lpstr>Teacher Model</vt:lpstr>
      <vt:lpstr>Student Model</vt:lpstr>
      <vt:lpstr>Missing Modality Student Training</vt:lpstr>
      <vt:lpstr>Knowledge Distillation - Setup</vt:lpstr>
      <vt:lpstr>Knowledge Distillation – Algorithm choice</vt:lpstr>
      <vt:lpstr>Loss function</vt:lpstr>
      <vt:lpstr>Evaluation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Distill-Phys: Knowledge Distillation for Robust Physiological Affect Recognition</dc:title>
  <dc:creator>Sarun Varghese</dc:creator>
  <cp:lastModifiedBy>Muhammad Abdullah</cp:lastModifiedBy>
  <cp:revision>10</cp:revision>
  <dcterms:created xsi:type="dcterms:W3CDTF">2026-02-02T18:08:04Z</dcterms:created>
  <dcterms:modified xsi:type="dcterms:W3CDTF">2026-06-16T21:41:24Z</dcterms:modified>
</cp:coreProperties>
</file>